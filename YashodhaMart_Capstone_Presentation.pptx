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and professors. I am Yashodha K. from the Department of Artificial Intelligence and Data Science at JJ College of Engineering and Technology. Today, I am proud to present my capstone project: YashodhaMart – a full-stack, deterministic e-commerce web application. I will walk you through the system architecture, database design, live features, and technical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presents the abstract. YashodhaMart is built from the ground up to solve physical shopping limitations and legacy portal bugs. It combines rapid Next.js client-server rendering with Prisma ORM atomic transactions to give users a responsive, dependable e-commerce experience.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I explain the motivation behind YashodhaMart. E-commerce is indispensable in India today. Our goal was to build a system specifically tuned for real-world retail needs: fast browsing, localized Indian addresses, reliable inventory management, and robust security.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analyzes the existing systems. In traditional physical shopping, customers face travel and queue delays. In rudimentary web portals, lack of atomic transactions causes inventory overselling, and storing JWTs in localStorage exposes users to XSS attacks. YashodhaMart systematically resolves each of these pain points.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highlights our proposed solution. YashodhaMart introduces four core pillars: hybrid SSR for high-speed page loads, Prisma atomic transactions to protect stock counts, HTTP-Only JWT cookies to prevent XSS session theft, and dynamic UPI QR code checkout tailored to Indian consumers.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breaks down our six concrete project objectives: frontend usability, multi-parametric product search, stock-aware cart management, a 3-step checkout engine, relational database integrity with atomic transactions, and a protected administrative back-office portal.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on Slide 7 is our actual technical stack. On the frontend, we use Next.js 14 App Router, React 18, TypeScript, and Tailwind CSS. On the backend, we run Next.js Route Handlers with Jose for JWT cookie sessions and Bcryptjs. For data storage, we use Prisma ORM 5.21 with SQLite.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details the system architecture. YashodhaMart implements a clean Three-Tier architecture. Tier 1 is the presentation layer in React 18 and Tailwind. Tier 2 is the application layer running Next.js API route handlers with JWT validation. Tier 3 is the persistence layer powered by Prisma ORM and SQLite, guaranteeing ACID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covers the frontend structure. We developed modular components: HeroCarousel, ProductFilterSidebar, QuantitySelector, AddressCardModal, and QRCodeDisplay. Everything is styled with Tailwind CSS for mobile responsiveness.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our backend implementation. All routes validate HTTP-Only session cookies using the Jose library. We separate customer authentication from admin authentication. The code snippet on the right shows how session cookies are issued with HTTP-Only and SameSite flags.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reviews the database design. We defined 13 normalized tables in Prisma schema: User, Admin, Session, Category, Product, Cart, CartItem, Wishlist, WishlistItem, Address, Order, OrderItem, and Review. Relationships enforce referential integrity with cascading deletions where appropriate.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explains our CRUD operations. We implemented all four operations across customer and admin workflows: Create for registration, cart items, and orders; Read for multi-parameter search and metric analytics; Update for quantities and shipment states; and Delete for cart removal, product deletion, and stock-restoring cancellations.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maps out the end-to-end customer purchasing workflow across six stages: Discovery, Item Selection with stock checks, Cart Review with delivery thresholds, Address Selection, Payment Mode choice, and Post-order Tracking with unique order receipts.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displays actual screenshots captured from our running application: the Storefront Home page with the hero banner, the Product Catalog with filters, the Shopping Cart with stock controls, the Multi-Step Checkout with UPI QR display, Product Details, and the Admin Authentication portal.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highlights our testing results. We verified authentication security, stock boundary limits, atomic transactions, and automated stock restoration upon cancellation. For payment, we implemented COD and an interactive UPI QR simulation, noting transparently that live production gateway webhooks represent a planned future phase.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summarizes our key project achievements. YashodhaMart successfully fulfills all capstone objectives: responsive full-stack performance, deterministic inventory control, robust session security, and full operational separation between customers and store admins.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outlines our future roadmap. Planned enhancements include live payment gateway webhooks via Razorpay or Stripe, real-time GPS delivery tracking on Mapbox, AI collaborative filtering recommendations, WhatsApp SMS alerts via Twilio, and a cross-platform React Native mobile app.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time and kind attention. I am now open to any questions, technical inquiries, or feedback regarding YashodhaMart.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914400" y="1005840"/>
            <a:ext cx="347472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COLLEGE CAPSTONE PROJECT REVIEW</a:t>
            </a:r>
          </a:p>
        </p:txBody>
      </p:sp>
      <p:sp>
        <p:nvSpPr>
          <p:cNvPr id="3" name="TextBox 2"/>
          <p:cNvSpPr txBox="1"/>
          <p:nvPr/>
        </p:nvSpPr>
        <p:spPr>
          <a:xfrm>
            <a:off x="914400" y="1645920"/>
            <a:ext cx="10332720" cy="1280160"/>
          </a:xfrm>
          <a:prstGeom prst="rect">
            <a:avLst/>
          </a:prstGeom>
          <a:noFill/>
        </p:spPr>
        <p:txBody>
          <a:bodyPr wrap="square">
            <a:spAutoFit/>
          </a:bodyPr>
          <a:lstStyle/>
          <a:p>
            <a:pPr>
              <a:defRPr sz="5400" b="1">
                <a:solidFill>
                  <a:srgbClr val="FFFFFF"/>
                </a:solidFill>
                <a:latin typeface="Segoe UI"/>
              </a:defRPr>
            </a:pPr>
            <a:r>
              <a:t>YashodhaMart</a:t>
            </a:r>
          </a:p>
        </p:txBody>
      </p:sp>
      <p:sp>
        <p:nvSpPr>
          <p:cNvPr id="4" name="TextBox 3"/>
          <p:cNvSpPr txBox="1"/>
          <p:nvPr/>
        </p:nvSpPr>
        <p:spPr>
          <a:xfrm>
            <a:off x="914400" y="2834640"/>
            <a:ext cx="10332720" cy="548640"/>
          </a:xfrm>
          <a:prstGeom prst="rect">
            <a:avLst/>
          </a:prstGeom>
          <a:noFill/>
        </p:spPr>
        <p:txBody>
          <a:bodyPr wrap="none">
            <a:spAutoFit/>
          </a:bodyPr>
          <a:lstStyle/>
          <a:p>
            <a:pPr>
              <a:defRPr sz="2400" b="1">
                <a:solidFill>
                  <a:srgbClr val="0D9488"/>
                </a:solidFill>
                <a:latin typeface="Segoe UI"/>
              </a:defRPr>
            </a:pPr>
            <a:r>
              <a:t>E-Commerce Web Application</a:t>
            </a:r>
          </a:p>
        </p:txBody>
      </p:sp>
      <p:sp>
        <p:nvSpPr>
          <p:cNvPr id="5" name="TextBox 4"/>
          <p:cNvSpPr txBox="1"/>
          <p:nvPr/>
        </p:nvSpPr>
        <p:spPr>
          <a:xfrm>
            <a:off x="914400" y="3429000"/>
            <a:ext cx="8686800" cy="731520"/>
          </a:xfrm>
          <a:prstGeom prst="rect">
            <a:avLst/>
          </a:prstGeom>
          <a:noFill/>
        </p:spPr>
        <p:txBody>
          <a:bodyPr wrap="none">
            <a:spAutoFit/>
          </a:bodyPr>
          <a:lstStyle/>
          <a:p>
            <a:pPr>
              <a:defRPr sz="1400">
                <a:solidFill>
                  <a:srgbClr val="94A3B8"/>
                </a:solidFill>
                <a:latin typeface="Segoe UI"/>
              </a:defRPr>
            </a:pPr>
            <a:r>
              <a:t>A full-stack, atomic transaction-driven e-commerce platform built with Next.js 14 App Router, TypeScript, Prisma ORM, and modern session security.</a:t>
            </a:r>
          </a:p>
        </p:txBody>
      </p:sp>
      <p:sp>
        <p:nvSpPr>
          <p:cNvPr id="6" name="Rounded Rectangle 5"/>
          <p:cNvSpPr/>
          <p:nvPr/>
        </p:nvSpPr>
        <p:spPr>
          <a:xfrm>
            <a:off x="914400" y="4389120"/>
            <a:ext cx="10362895"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572000"/>
            <a:ext cx="9784080" cy="1280160"/>
          </a:xfrm>
          <a:prstGeom prst="rect">
            <a:avLst/>
          </a:prstGeom>
          <a:noFill/>
        </p:spPr>
        <p:txBody>
          <a:bodyPr wrap="square">
            <a:spAutoFit/>
          </a:bodyPr>
          <a:lstStyle/>
          <a:p>
            <a:pPr>
              <a:defRPr sz="1600" b="1">
                <a:solidFill>
                  <a:srgbClr val="FFFFFF"/>
                </a:solidFill>
              </a:defRPr>
            </a:pPr>
            <a:r>
              <a:t>Presented by: Yashodha K.</a:t>
            </a:r>
          </a:p>
          <a:p>
            <a:pPr>
              <a:defRPr sz="1300">
                <a:solidFill>
                  <a:srgbClr val="CBD5E1"/>
                </a:solidFill>
              </a:defRPr>
            </a:pPr>
            <a:r>
              <a:t>Department: Artificial Intelligence and Data Science</a:t>
            </a:r>
          </a:p>
          <a:p>
            <a:pPr>
              <a:defRPr sz="1300">
                <a:solidFill>
                  <a:srgbClr val="CBD5E1"/>
                </a:solidFill>
              </a:defRPr>
            </a:pPr>
            <a:r>
              <a:t>College: JJ College of Engineering and Technology</a:t>
            </a:r>
          </a:p>
          <a:p>
            <a:pPr>
              <a:defRPr sz="1300" b="1">
                <a:solidFill>
                  <a:srgbClr val="2563EB"/>
                </a:solidFill>
              </a:defRPr>
            </a:pPr>
            <a:r>
              <a:t>Academic Year: 2026–2027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Segoe UI"/>
              </a:defRPr>
            </a:pPr>
            <a:r>
              <a:t>01. EXECUTIVE SUMMARY</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400" b="1">
                <a:solidFill>
                  <a:srgbClr val="0F172A"/>
                </a:solidFill>
                <a:latin typeface="Segoe UI"/>
              </a:defRPr>
            </a:pPr>
            <a:r>
              <a:t>Abstract — Project Overview &amp; Core Vision</a:t>
            </a:r>
          </a:p>
        </p:txBody>
      </p:sp>
      <p:sp>
        <p:nvSpPr>
          <p:cNvPr id="4" name="Rectangle 3"/>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47472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47472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11680"/>
            <a:ext cx="3017520" cy="3840480"/>
          </a:xfrm>
          <a:prstGeom prst="rect">
            <a:avLst/>
          </a:prstGeom>
          <a:noFill/>
        </p:spPr>
        <p:txBody>
          <a:bodyPr wrap="square">
            <a:spAutoFit/>
          </a:bodyPr>
          <a:lstStyle/>
          <a:p>
            <a:pPr>
              <a:defRPr sz="1600" b="1">
                <a:solidFill>
                  <a:srgbClr val="0F172A"/>
                </a:solidFill>
                <a:latin typeface="Segoe UI"/>
              </a:defRPr>
            </a:pPr>
            <a:r>
              <a:t>Platform Introduction</a:t>
            </a:r>
          </a:p>
          <a:p>
            <a:br/>
            <a:pPr>
              <a:defRPr sz="1300">
                <a:solidFill>
                  <a:srgbClr val="475569"/>
                </a:solidFill>
                <a:latin typeface="Segoe UI"/>
              </a:defRPr>
            </a:pPr>
            <a:r>
              <a:t>YashodhaMart is a full-stack online marketplace engineered using modern web technologies: Next.js 14 App Router, TypeScript, Tailwind CSS, and Prisma ORM with a relational database backend.</a:t>
            </a:r>
          </a:p>
        </p:txBody>
      </p:sp>
      <p:sp>
        <p:nvSpPr>
          <p:cNvPr id="8" name="Rounded Rectangle 7"/>
          <p:cNvSpPr/>
          <p:nvPr/>
        </p:nvSpPr>
        <p:spPr>
          <a:xfrm>
            <a:off x="4370832" y="1645920"/>
            <a:ext cx="347472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70832" y="1645920"/>
            <a:ext cx="3474720"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2011680"/>
            <a:ext cx="3017520" cy="3840480"/>
          </a:xfrm>
          <a:prstGeom prst="rect">
            <a:avLst/>
          </a:prstGeom>
          <a:noFill/>
        </p:spPr>
        <p:txBody>
          <a:bodyPr wrap="square">
            <a:spAutoFit/>
          </a:bodyPr>
          <a:lstStyle/>
          <a:p>
            <a:pPr>
              <a:defRPr sz="1600" b="1">
                <a:solidFill>
                  <a:srgbClr val="0F172A"/>
                </a:solidFill>
                <a:latin typeface="Segoe UI"/>
              </a:defRPr>
            </a:pPr>
            <a:r>
              <a:t>Core Purpose &amp; Mission</a:t>
            </a:r>
          </a:p>
          <a:p>
            <a:br/>
            <a:pPr>
              <a:defRPr sz="1300">
                <a:solidFill>
                  <a:srgbClr val="475569"/>
                </a:solidFill>
                <a:latin typeface="Segoe UI"/>
              </a:defRPr>
            </a:pPr>
            <a:r>
              <a:t>To solve the concurrency bottlenecks, slow page rendering, and inventory discrepancies common in traditional retail and legacy web stores by establishing deterministic stock management.</a:t>
            </a:r>
          </a:p>
        </p:txBody>
      </p:sp>
      <p:sp>
        <p:nvSpPr>
          <p:cNvPr id="11" name="Rounded Rectangle 10"/>
          <p:cNvSpPr/>
          <p:nvPr/>
        </p:nvSpPr>
        <p:spPr>
          <a:xfrm>
            <a:off x="8010144" y="1645920"/>
            <a:ext cx="347472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10144" y="1645920"/>
            <a:ext cx="3474720" cy="10972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38744" y="2011680"/>
            <a:ext cx="3017520" cy="3840480"/>
          </a:xfrm>
          <a:prstGeom prst="rect">
            <a:avLst/>
          </a:prstGeom>
          <a:noFill/>
        </p:spPr>
        <p:txBody>
          <a:bodyPr wrap="square">
            <a:spAutoFit/>
          </a:bodyPr>
          <a:lstStyle/>
          <a:p>
            <a:pPr>
              <a:defRPr sz="1600" b="1">
                <a:solidFill>
                  <a:srgbClr val="0F172A"/>
                </a:solidFill>
                <a:latin typeface="Segoe UI"/>
              </a:defRPr>
            </a:pPr>
            <a:r>
              <a:t>Key Features &amp; Benefits</a:t>
            </a:r>
          </a:p>
          <a:p>
            <a:br/>
            <a:pPr>
              <a:defRPr sz="1300">
                <a:solidFill>
                  <a:srgbClr val="475569"/>
                </a:solidFill>
                <a:latin typeface="Segoe UI"/>
              </a:defRPr>
            </a:pPr>
            <a:r>
              <a:t>Provides dynamic product filtering, real-time stock-aware cart management, Indian shipping address storage, dual payment modes (COD &amp; UPI QR), and a dedicated admin portal.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Segoe UI"/>
              </a:defRPr>
            </a:pPr>
            <a:r>
              <a:t>02. CONTEXT &amp; FOUNDATION</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400" b="1">
                <a:solidFill>
                  <a:srgbClr val="0F172A"/>
                </a:solidFill>
                <a:latin typeface="Segoe UI"/>
              </a:defRPr>
            </a:pPr>
            <a:r>
              <a:t>Introduction — E-Commerce Landscape &amp; Project Motivation</a:t>
            </a:r>
          </a:p>
        </p:txBody>
      </p:sp>
      <p:sp>
        <p:nvSpPr>
          <p:cNvPr id="4" name="Rectangle 3"/>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663440" cy="3840480"/>
          </a:xfrm>
          <a:prstGeom prst="rect">
            <a:avLst/>
          </a:prstGeom>
          <a:noFill/>
        </p:spPr>
        <p:txBody>
          <a:bodyPr wrap="square">
            <a:spAutoFit/>
          </a:bodyPr>
          <a:lstStyle/>
          <a:p>
            <a:pPr>
              <a:defRPr sz="1800" b="1">
                <a:solidFill>
                  <a:srgbClr val="2563EB"/>
                </a:solidFill>
              </a:defRPr>
            </a:pPr>
            <a:r>
              <a:t>The Modern E-Commerce Landscape</a:t>
            </a:r>
          </a:p>
          <a:p>
            <a:pPr>
              <a:spcBef>
                <a:spcPts val="800"/>
              </a:spcBef>
              <a:defRPr sz="1250">
                <a:solidFill>
                  <a:srgbClr val="475569"/>
                </a:solidFill>
              </a:defRPr>
            </a:pPr>
            <a:r>
              <a:t>• Rapid Digital Transformation: High-speed internet and digital payments have made online shopping the dominant retail channel.</a:t>
            </a:r>
          </a:p>
          <a:p>
            <a:pPr>
              <a:spcBef>
                <a:spcPts val="800"/>
              </a:spcBef>
              <a:defRPr sz="1250">
                <a:solidFill>
                  <a:srgbClr val="475569"/>
                </a:solidFill>
              </a:defRPr>
            </a:pPr>
            <a:r>
              <a:t>• Expectation of Zero Latency: Modern shoppers expect sub-second catalog transitions and instantaneous search feedback.</a:t>
            </a:r>
          </a:p>
          <a:p>
            <a:pPr>
              <a:spcBef>
                <a:spcPts val="800"/>
              </a:spcBef>
              <a:defRPr sz="1250">
                <a:solidFill>
                  <a:srgbClr val="475569"/>
                </a:solidFill>
              </a:defRPr>
            </a:pPr>
            <a:r>
              <a:t>• High Demand for Mobile Convenience: Consumers shop on phones, requiring responsive mobile-first layouts.</a:t>
            </a:r>
          </a:p>
          <a:p>
            <a:pPr>
              <a:spcBef>
                <a:spcPts val="800"/>
              </a:spcBef>
              <a:defRPr sz="1250">
                <a:solidFill>
                  <a:srgbClr val="475569"/>
                </a:solidFill>
              </a:defRPr>
            </a:pPr>
            <a:r>
              <a:t>• Indian Market Specifics: Need for localized address structures (PIN codes, area landmarks) and UPI payment modes.</a:t>
            </a:r>
          </a:p>
        </p:txBody>
      </p:sp>
      <p:sp>
        <p:nvSpPr>
          <p:cNvPr id="7" name="Rounded Rectangle 6"/>
          <p:cNvSpPr/>
          <p:nvPr/>
        </p:nvSpPr>
        <p:spPr>
          <a:xfrm>
            <a:off x="6217920" y="164592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920240"/>
            <a:ext cx="4663440" cy="3840480"/>
          </a:xfrm>
          <a:prstGeom prst="rect">
            <a:avLst/>
          </a:prstGeom>
          <a:noFill/>
        </p:spPr>
        <p:txBody>
          <a:bodyPr wrap="square">
            <a:spAutoFit/>
          </a:bodyPr>
          <a:lstStyle/>
          <a:p>
            <a:pPr>
              <a:defRPr sz="1800" b="1">
                <a:solidFill>
                  <a:srgbClr val="0D9488"/>
                </a:solidFill>
              </a:defRPr>
            </a:pPr>
            <a:r>
              <a:t>Project Motivation &amp; Scope</a:t>
            </a:r>
          </a:p>
          <a:p>
            <a:pPr>
              <a:spcBef>
                <a:spcPts val="800"/>
              </a:spcBef>
              <a:defRPr sz="1250">
                <a:solidFill>
                  <a:srgbClr val="475569"/>
                </a:solidFill>
              </a:defRPr>
            </a:pPr>
            <a:r>
              <a:t>• Eliminate Retail Queue Overhead: Enable customers to order groceries and daily goods from anywhere 24/7.</a:t>
            </a:r>
          </a:p>
          <a:p>
            <a:pPr>
              <a:spcBef>
                <a:spcPts val="800"/>
              </a:spcBef>
              <a:defRPr sz="1250">
                <a:solidFill>
                  <a:srgbClr val="475569"/>
                </a:solidFill>
              </a:defRPr>
            </a:pPr>
            <a:r>
              <a:t>• Ensure Transactional Reliability: Implement database transactions that prevent overselling of limited inventory.</a:t>
            </a:r>
          </a:p>
          <a:p>
            <a:pPr>
              <a:spcBef>
                <a:spcPts val="800"/>
              </a:spcBef>
              <a:defRPr sz="1250">
                <a:solidFill>
                  <a:srgbClr val="475569"/>
                </a:solidFill>
              </a:defRPr>
            </a:pPr>
            <a:r>
              <a:t>• Protect Consumer Privacy: Store session credentials in HTTP-Only signed cookies rather than exposed browser storage.</a:t>
            </a:r>
          </a:p>
          <a:p>
            <a:pPr>
              <a:spcBef>
                <a:spcPts val="800"/>
              </a:spcBef>
              <a:defRPr sz="1250">
                <a:solidFill>
                  <a:srgbClr val="475569"/>
                </a:solidFill>
              </a:defRPr>
            </a:pPr>
            <a:r>
              <a:t>• Provide Full Store Visibility: Equip shop owners with real-time analytics, inventory management, and shipment tracking.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Segoe UI"/>
              </a:defRPr>
            </a:pPr>
            <a:r>
              <a:t>03. PROBLEM DEFINITION</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400" b="1">
                <a:solidFill>
                  <a:srgbClr val="0F172A"/>
                </a:solidFill>
                <a:latin typeface="Segoe UI"/>
              </a:defRPr>
            </a:pPr>
            <a:r>
              <a:t>Existing System — Limitations &amp; Pain Points</a:t>
            </a:r>
          </a:p>
        </p:txBody>
      </p:sp>
      <p:sp>
        <p:nvSpPr>
          <p:cNvPr id="4" name="Rectangle 3"/>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10149840" cy="3931920"/>
          </a:xfrm>
          <a:prstGeom prst="rect">
            <a:avLst/>
          </a:prstGeom>
          <a:noFill/>
        </p:spPr>
        <p:txBody>
          <a:bodyPr wrap="square">
            <a:spAutoFit/>
          </a:bodyPr>
          <a:lstStyle/>
          <a:p>
            <a:pPr>
              <a:defRPr sz="1800" b="1">
                <a:solidFill>
                  <a:srgbClr val="DC2626"/>
                </a:solidFill>
              </a:defRPr>
            </a:pPr>
            <a:r>
              <a:t>Critical Limitations of Traditional &amp; Legacy Systems</a:t>
            </a:r>
          </a:p>
          <a:p>
            <a:pPr>
              <a:spcBef>
                <a:spcPts val="600"/>
              </a:spcBef>
              <a:defRPr sz="1200">
                <a:solidFill>
                  <a:srgbClr val="475569"/>
                </a:solidFill>
              </a:defRPr>
            </a:pPr>
            <a:r>
              <a:t>❌  Physical Shopping Constraints: Requires traveling to physical stores, fixed operating hours, and waiting in billing queues with manual invoice recording.</a:t>
            </a:r>
          </a:p>
          <a:p>
            <a:pPr>
              <a:spcBef>
                <a:spcPts val="600"/>
              </a:spcBef>
              <a:defRPr sz="1200">
                <a:solidFill>
                  <a:srgbClr val="475569"/>
                </a:solidFill>
              </a:defRPr>
            </a:pPr>
            <a:r>
              <a:t>❌  Catalog Opacity &amp; Stock Blindness: Shoppers cannot check whether an item is in stock until they physically arrive or reach the final checkout step.</a:t>
            </a:r>
          </a:p>
          <a:p>
            <a:pPr>
              <a:spcBef>
                <a:spcPts val="600"/>
              </a:spcBef>
              <a:defRPr sz="1200">
                <a:solidFill>
                  <a:srgbClr val="475569"/>
                </a:solidFill>
              </a:defRPr>
            </a:pPr>
            <a:r>
              <a:t>❌  Race Conditions &amp; Overselling: Rudimentary online systems lack atomic isolation; two shoppers can purchase the final unit simultaneously, causing order cancellation.</a:t>
            </a:r>
          </a:p>
          <a:p>
            <a:pPr>
              <a:spcBef>
                <a:spcPts val="600"/>
              </a:spcBef>
              <a:defRPr sz="1200">
                <a:solidFill>
                  <a:srgbClr val="475569"/>
                </a:solidFill>
              </a:defRPr>
            </a:pPr>
            <a:r>
              <a:t>❌  Insecure Session Storage: Many legacy portals store authorization tokens in plain browser localStorage, vulnerable to Cross-Site Scripting (XSS) extraction.</a:t>
            </a:r>
          </a:p>
          <a:p>
            <a:pPr>
              <a:spcBef>
                <a:spcPts val="600"/>
              </a:spcBef>
              <a:defRPr sz="1200">
                <a:solidFill>
                  <a:srgbClr val="475569"/>
                </a:solidFill>
              </a:defRPr>
            </a:pPr>
            <a:r>
              <a:t>❌  Manual Inventory Bookkeeping: Store owners update spreadsheets or physical logs manually, causing discrepancies, stockouts, and delayed shipment updates.</a:t>
            </a:r>
          </a:p>
          <a:p>
            <a:pPr>
              <a:spcBef>
                <a:spcPts val="600"/>
              </a:spcBef>
              <a:defRPr sz="1200">
                <a:solidFill>
                  <a:srgbClr val="475569"/>
                </a:solidFill>
              </a:defRPr>
            </a:pPr>
            <a:r>
              <a:t>❌  Unverified Customer Reviews: Anonymous reviews in legacy stores result in spam and fake feedback, undermining customer trust.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Segoe UI"/>
              </a:defRPr>
            </a:pPr>
            <a:r>
              <a:t>04. SOLUTION ARCHITECTURE</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400" b="1">
                <a:solidFill>
                  <a:srgbClr val="0F172A"/>
                </a:solidFill>
                <a:latin typeface="Segoe UI"/>
              </a:defRPr>
            </a:pPr>
            <a:r>
              <a:t>Proposed System — Architecture &amp; Advantages</a:t>
            </a:r>
          </a:p>
        </p:txBody>
      </p:sp>
      <p:sp>
        <p:nvSpPr>
          <p:cNvPr id="4" name="Rectangle 3"/>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5780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709160" cy="1737360"/>
          </a:xfrm>
          <a:prstGeom prst="rect">
            <a:avLst/>
          </a:prstGeom>
          <a:noFill/>
        </p:spPr>
        <p:txBody>
          <a:bodyPr wrap="square">
            <a:spAutoFit/>
          </a:bodyPr>
          <a:lstStyle/>
          <a:p>
            <a:pPr>
              <a:defRPr sz="1500" b="1">
                <a:solidFill>
                  <a:srgbClr val="2563EB"/>
                </a:solidFill>
              </a:defRPr>
            </a:pPr>
            <a:r>
              <a:t>✓ Sub-Second Full-Stack Performance</a:t>
            </a:r>
          </a:p>
          <a:p>
            <a:pPr>
              <a:spcBef>
                <a:spcPts val="600"/>
              </a:spcBef>
              <a:defRPr sz="1200">
                <a:solidFill>
                  <a:srgbClr val="475569"/>
                </a:solidFill>
              </a:defRPr>
            </a:pPr>
            <a:r>
              <a:t>Built on Next.js 14 App Router with hybrid SSR and client hydration. Product pages render instantly with zero full-page browser refreshes.</a:t>
            </a:r>
          </a:p>
        </p:txBody>
      </p:sp>
      <p:sp>
        <p:nvSpPr>
          <p:cNvPr id="7" name="Rounded Rectangle 6"/>
          <p:cNvSpPr/>
          <p:nvPr/>
        </p:nvSpPr>
        <p:spPr>
          <a:xfrm>
            <a:off x="6172200" y="1645920"/>
            <a:ext cx="525780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09160" cy="1737360"/>
          </a:xfrm>
          <a:prstGeom prst="rect">
            <a:avLst/>
          </a:prstGeom>
          <a:noFill/>
        </p:spPr>
        <p:txBody>
          <a:bodyPr wrap="square">
            <a:spAutoFit/>
          </a:bodyPr>
          <a:lstStyle/>
          <a:p>
            <a:pPr>
              <a:defRPr sz="1500" b="1">
                <a:solidFill>
                  <a:srgbClr val="0D9488"/>
                </a:solidFill>
              </a:defRPr>
            </a:pPr>
            <a:r>
              <a:t>✓ Atomic Relational Transactions</a:t>
            </a:r>
          </a:p>
          <a:p>
            <a:pPr>
              <a:spcBef>
                <a:spcPts val="600"/>
              </a:spcBef>
              <a:defRPr sz="1200">
                <a:solidFill>
                  <a:srgbClr val="475569"/>
                </a:solidFill>
              </a:defRPr>
            </a:pPr>
            <a:r>
              <a:t>Prisma ORM transactions (prisma.$transaction) guarantee that order creation, stock deduction, and cart clearing execute atomically or roll back safely.</a:t>
            </a:r>
          </a:p>
        </p:txBody>
      </p:sp>
      <p:sp>
        <p:nvSpPr>
          <p:cNvPr id="9" name="Rounded Rectangle 8"/>
          <p:cNvSpPr/>
          <p:nvPr/>
        </p:nvSpPr>
        <p:spPr>
          <a:xfrm>
            <a:off x="731520" y="3931920"/>
            <a:ext cx="525780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114800"/>
            <a:ext cx="4709160" cy="1737360"/>
          </a:xfrm>
          <a:prstGeom prst="rect">
            <a:avLst/>
          </a:prstGeom>
          <a:noFill/>
        </p:spPr>
        <p:txBody>
          <a:bodyPr wrap="square">
            <a:spAutoFit/>
          </a:bodyPr>
          <a:lstStyle/>
          <a:p>
            <a:pPr>
              <a:defRPr sz="1500" b="1">
                <a:solidFill>
                  <a:srgbClr val="1D4ED8"/>
                </a:solidFill>
              </a:defRPr>
            </a:pPr>
            <a:r>
              <a:t>✓ Secure HTTP-Only Session Auth</a:t>
            </a:r>
          </a:p>
          <a:p>
            <a:pPr>
              <a:spcBef>
                <a:spcPts val="600"/>
              </a:spcBef>
              <a:defRPr sz="1200">
                <a:solidFill>
                  <a:srgbClr val="475569"/>
                </a:solidFill>
              </a:defRPr>
            </a:pPr>
            <a:r>
              <a:t>Authentication uses cryptographically signed JWTs via 'jose' stored in HTTP-Only, SameSite cookies, isolating credentials from client-side scripts.</a:t>
            </a:r>
          </a:p>
        </p:txBody>
      </p:sp>
      <p:sp>
        <p:nvSpPr>
          <p:cNvPr id="11" name="Rounded Rectangle 10"/>
          <p:cNvSpPr/>
          <p:nvPr/>
        </p:nvSpPr>
        <p:spPr>
          <a:xfrm>
            <a:off x="6172200" y="3931920"/>
            <a:ext cx="525780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114800"/>
            <a:ext cx="4709160" cy="1737360"/>
          </a:xfrm>
          <a:prstGeom prst="rect">
            <a:avLst/>
          </a:prstGeom>
          <a:noFill/>
        </p:spPr>
        <p:txBody>
          <a:bodyPr wrap="square">
            <a:spAutoFit/>
          </a:bodyPr>
          <a:lstStyle/>
          <a:p>
            <a:pPr>
              <a:defRPr sz="1500" b="1">
                <a:solidFill>
                  <a:srgbClr val="10B981"/>
                </a:solidFill>
              </a:defRPr>
            </a:pPr>
            <a:r>
              <a:t>✓ Integrated UPI QR &amp; COD Checkout</a:t>
            </a:r>
          </a:p>
          <a:p>
            <a:pPr>
              <a:spcBef>
                <a:spcPts val="600"/>
              </a:spcBef>
              <a:defRPr sz="1200">
                <a:solidFill>
                  <a:srgbClr val="475569"/>
                </a:solidFill>
              </a:defRPr>
            </a:pPr>
            <a:r>
              <a:t>Offers both Cash on Delivery and a dynamic NPCI-compliant UPI QR Code generated in real-time with automatic order amount and reference encoding.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Segoe UI"/>
              </a:defRPr>
            </a:pPr>
            <a:r>
              <a:t>05. OBJECTIVES &amp; SCOPE</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400" b="1">
                <a:solidFill>
                  <a:srgbClr val="0F172A"/>
                </a:solidFill>
                <a:latin typeface="Segoe UI"/>
              </a:defRPr>
            </a:pPr>
            <a:r>
              <a:t>Project Objectives — Deliverables &amp; Milestones</a:t>
            </a:r>
          </a:p>
        </p:txBody>
      </p:sp>
      <p:sp>
        <p:nvSpPr>
          <p:cNvPr id="4" name="Rectangle 3"/>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5780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4800600" cy="1097280"/>
          </a:xfrm>
          <a:prstGeom prst="rect">
            <a:avLst/>
          </a:prstGeom>
          <a:noFill/>
        </p:spPr>
        <p:txBody>
          <a:bodyPr wrap="square">
            <a:spAutoFit/>
          </a:bodyPr>
          <a:lstStyle/>
          <a:p>
            <a:pPr>
              <a:defRPr sz="1400" b="1">
                <a:solidFill>
                  <a:srgbClr val="2563EB"/>
                </a:solidFill>
              </a:defRPr>
            </a:pPr>
            <a:r>
              <a:t>1. User Interface Usability</a:t>
            </a:r>
          </a:p>
          <a:p>
            <a:pPr>
              <a:spcBef>
                <a:spcPts val="300"/>
              </a:spcBef>
              <a:defRPr sz="1100">
                <a:solidFill>
                  <a:srgbClr val="475569"/>
                </a:solidFill>
              </a:defRPr>
            </a:pPr>
            <a:r>
              <a:t>Create an intuitive, responsive interface using Tailwind CSS and Lucide icons that renders smoothly across desktops, tablets, and smartphones.</a:t>
            </a:r>
          </a:p>
        </p:txBody>
      </p:sp>
      <p:sp>
        <p:nvSpPr>
          <p:cNvPr id="7" name="Rounded Rectangle 6"/>
          <p:cNvSpPr/>
          <p:nvPr/>
        </p:nvSpPr>
        <p:spPr>
          <a:xfrm>
            <a:off x="6172200" y="1645920"/>
            <a:ext cx="525780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00600" cy="1097280"/>
          </a:xfrm>
          <a:prstGeom prst="rect">
            <a:avLst/>
          </a:prstGeom>
          <a:noFill/>
        </p:spPr>
        <p:txBody>
          <a:bodyPr wrap="square">
            <a:spAutoFit/>
          </a:bodyPr>
          <a:lstStyle/>
          <a:p>
            <a:pPr>
              <a:defRPr sz="1400" b="1">
                <a:solidFill>
                  <a:srgbClr val="2563EB"/>
                </a:solidFill>
              </a:defRPr>
            </a:pPr>
            <a:r>
              <a:t>2. Multi-Parametric Product Discovery</a:t>
            </a:r>
          </a:p>
          <a:p>
            <a:pPr>
              <a:spcBef>
                <a:spcPts val="300"/>
              </a:spcBef>
              <a:defRPr sz="1100">
                <a:solidFill>
                  <a:srgbClr val="475569"/>
                </a:solidFill>
              </a:defRPr>
            </a:pPr>
            <a:r>
              <a:t>Build a live catalog search with concurrent multi-filters (category, price range, star ratings, discounts, and in-stock toggles) and dynamic sort orders.</a:t>
            </a:r>
          </a:p>
        </p:txBody>
      </p:sp>
      <p:sp>
        <p:nvSpPr>
          <p:cNvPr id="9" name="Rounded Rectangle 8"/>
          <p:cNvSpPr/>
          <p:nvPr/>
        </p:nvSpPr>
        <p:spPr>
          <a:xfrm>
            <a:off x="731520" y="3154680"/>
            <a:ext cx="525780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291840"/>
            <a:ext cx="4800600" cy="1097280"/>
          </a:xfrm>
          <a:prstGeom prst="rect">
            <a:avLst/>
          </a:prstGeom>
          <a:noFill/>
        </p:spPr>
        <p:txBody>
          <a:bodyPr wrap="square">
            <a:spAutoFit/>
          </a:bodyPr>
          <a:lstStyle/>
          <a:p>
            <a:pPr>
              <a:defRPr sz="1400" b="1">
                <a:solidFill>
                  <a:srgbClr val="2563EB"/>
                </a:solidFill>
              </a:defRPr>
            </a:pPr>
            <a:r>
              <a:t>3. Stock-Aware Shopping Cart &amp; Wishlist</a:t>
            </a:r>
          </a:p>
          <a:p>
            <a:pPr>
              <a:spcBef>
                <a:spcPts val="300"/>
              </a:spcBef>
              <a:defRPr sz="1100">
                <a:solidFill>
                  <a:srgbClr val="475569"/>
                </a:solidFill>
              </a:defRPr>
            </a:pPr>
            <a:r>
              <a:t>Implement client-side state synchronized with server-side stock constraints, enforcing strict maxStock quantity limits and computing delivery fees.</a:t>
            </a:r>
          </a:p>
        </p:txBody>
      </p:sp>
      <p:sp>
        <p:nvSpPr>
          <p:cNvPr id="11" name="Rounded Rectangle 10"/>
          <p:cNvSpPr/>
          <p:nvPr/>
        </p:nvSpPr>
        <p:spPr>
          <a:xfrm>
            <a:off x="6172200" y="3154680"/>
            <a:ext cx="525780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291840"/>
            <a:ext cx="4800600" cy="1097280"/>
          </a:xfrm>
          <a:prstGeom prst="rect">
            <a:avLst/>
          </a:prstGeom>
          <a:noFill/>
        </p:spPr>
        <p:txBody>
          <a:bodyPr wrap="square">
            <a:spAutoFit/>
          </a:bodyPr>
          <a:lstStyle/>
          <a:p>
            <a:pPr>
              <a:defRPr sz="1400" b="1">
                <a:solidFill>
                  <a:srgbClr val="2563EB"/>
                </a:solidFill>
              </a:defRPr>
            </a:pPr>
            <a:r>
              <a:t>4. Seamless Multi-Step Checkout</a:t>
            </a:r>
          </a:p>
          <a:p>
            <a:pPr>
              <a:spcBef>
                <a:spcPts val="300"/>
              </a:spcBef>
              <a:defRPr sz="1100">
                <a:solidFill>
                  <a:srgbClr val="475569"/>
                </a:solidFill>
              </a:defRPr>
            </a:pPr>
            <a:r>
              <a:t>Develop a 3-step checkout flow incorporating Indian address management, dynamic UPI QR payment simulation, and instant order receipt generation.</a:t>
            </a:r>
          </a:p>
        </p:txBody>
      </p:sp>
      <p:sp>
        <p:nvSpPr>
          <p:cNvPr id="13" name="Rounded Rectangle 12"/>
          <p:cNvSpPr/>
          <p:nvPr/>
        </p:nvSpPr>
        <p:spPr>
          <a:xfrm>
            <a:off x="731520" y="4663440"/>
            <a:ext cx="525780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800600"/>
            <a:ext cx="4800600" cy="1097280"/>
          </a:xfrm>
          <a:prstGeom prst="rect">
            <a:avLst/>
          </a:prstGeom>
          <a:noFill/>
        </p:spPr>
        <p:txBody>
          <a:bodyPr wrap="square">
            <a:spAutoFit/>
          </a:bodyPr>
          <a:lstStyle/>
          <a:p>
            <a:pPr>
              <a:defRPr sz="1400" b="1">
                <a:solidFill>
                  <a:srgbClr val="2563EB"/>
                </a:solidFill>
              </a:defRPr>
            </a:pPr>
            <a:r>
              <a:t>5. Relational Integrity &amp; Concurrency</a:t>
            </a:r>
          </a:p>
          <a:p>
            <a:pPr>
              <a:spcBef>
                <a:spcPts val="300"/>
              </a:spcBef>
              <a:defRPr sz="1100">
                <a:solidFill>
                  <a:srgbClr val="475569"/>
                </a:solidFill>
              </a:defRPr>
            </a:pPr>
            <a:r>
              <a:t>Design a normalized database schema in Prisma ORM with atomic operations that increment or decrement stock safely during orders and cancellations.</a:t>
            </a:r>
          </a:p>
        </p:txBody>
      </p:sp>
      <p:sp>
        <p:nvSpPr>
          <p:cNvPr id="15" name="Rounded Rectangle 14"/>
          <p:cNvSpPr/>
          <p:nvPr/>
        </p:nvSpPr>
        <p:spPr>
          <a:xfrm>
            <a:off x="6172200" y="4663440"/>
            <a:ext cx="525780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800600"/>
            <a:ext cx="4800600" cy="1097280"/>
          </a:xfrm>
          <a:prstGeom prst="rect">
            <a:avLst/>
          </a:prstGeom>
          <a:noFill/>
        </p:spPr>
        <p:txBody>
          <a:bodyPr wrap="square">
            <a:spAutoFit/>
          </a:bodyPr>
          <a:lstStyle/>
          <a:p>
            <a:pPr>
              <a:defRPr sz="1400" b="1">
                <a:solidFill>
                  <a:srgbClr val="2563EB"/>
                </a:solidFill>
              </a:defRPr>
            </a:pPr>
            <a:r>
              <a:t>6. Protected Administrative Portal</a:t>
            </a:r>
          </a:p>
          <a:p>
            <a:pPr>
              <a:spcBef>
                <a:spcPts val="300"/>
              </a:spcBef>
              <a:defRPr sz="1100">
                <a:solidFill>
                  <a:srgbClr val="475569"/>
                </a:solidFill>
              </a:defRPr>
            </a:pPr>
            <a:r>
              <a:t>Build an administrative suite with key performance indicators, complete product catalog CRUD, shipment advancement, and user account management.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Segoe UI"/>
              </a:defRPr>
            </a:pPr>
            <a:r>
              <a:t>06. TECH STACK SPECIFICATION</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400" b="1">
                <a:solidFill>
                  <a:srgbClr val="0F172A"/>
                </a:solidFill>
                <a:latin typeface="Segoe UI"/>
              </a:defRPr>
            </a:pPr>
            <a:r>
              <a:t>Technologies Used — Full-Stack Technical Stack</a:t>
            </a:r>
          </a:p>
        </p:txBody>
      </p:sp>
      <p:sp>
        <p:nvSpPr>
          <p:cNvPr id="4" name="Rectangle 3"/>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47472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47472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3108960" cy="3931920"/>
          </a:xfrm>
          <a:prstGeom prst="rect">
            <a:avLst/>
          </a:prstGeom>
          <a:noFill/>
        </p:spPr>
        <p:txBody>
          <a:bodyPr wrap="square">
            <a:spAutoFit/>
          </a:bodyPr>
          <a:lstStyle/>
          <a:p>
            <a:pPr>
              <a:defRPr sz="1600" b="1">
                <a:solidFill>
                  <a:srgbClr val="0F172A"/>
                </a:solidFill>
              </a:defRPr>
            </a:pPr>
            <a:r>
              <a:t>Frontend Layer</a:t>
            </a:r>
          </a:p>
          <a:p>
            <a:pPr>
              <a:spcBef>
                <a:spcPts val="600"/>
              </a:spcBef>
              <a:defRPr sz="1200" b="1">
                <a:solidFill>
                  <a:srgbClr val="2563EB"/>
                </a:solidFill>
              </a:defRPr>
            </a:pPr>
            <a:r>
              <a:t>• Next.js 14 (App Router)</a:t>
            </a:r>
          </a:p>
          <a:p>
            <a:pPr>
              <a:defRPr sz="1050">
                <a:solidFill>
                  <a:srgbClr val="475569"/>
                </a:solidFill>
              </a:defRPr>
            </a:pPr>
            <a:r>
              <a:t>  React framework with Server Components &amp; SSR</a:t>
            </a:r>
          </a:p>
          <a:p>
            <a:pPr>
              <a:spcBef>
                <a:spcPts val="600"/>
              </a:spcBef>
              <a:defRPr sz="1200" b="1">
                <a:solidFill>
                  <a:srgbClr val="2563EB"/>
                </a:solidFill>
              </a:defRPr>
            </a:pPr>
            <a:r>
              <a:t>• React 18</a:t>
            </a:r>
          </a:p>
          <a:p>
            <a:pPr>
              <a:defRPr sz="1050">
                <a:solidFill>
                  <a:srgbClr val="475569"/>
                </a:solidFill>
              </a:defRPr>
            </a:pPr>
            <a:r>
              <a:t>  Component-based declarative UI library</a:t>
            </a:r>
          </a:p>
          <a:p>
            <a:pPr>
              <a:spcBef>
                <a:spcPts val="600"/>
              </a:spcBef>
              <a:defRPr sz="1200" b="1">
                <a:solidFill>
                  <a:srgbClr val="2563EB"/>
                </a:solidFill>
              </a:defRPr>
            </a:pPr>
            <a:r>
              <a:t>• TypeScript 5.6</a:t>
            </a:r>
          </a:p>
          <a:p>
            <a:pPr>
              <a:defRPr sz="1050">
                <a:solidFill>
                  <a:srgbClr val="475569"/>
                </a:solidFill>
              </a:defRPr>
            </a:pPr>
            <a:r>
              <a:t>  Static typing for API contracts and components</a:t>
            </a:r>
          </a:p>
          <a:p>
            <a:pPr>
              <a:spcBef>
                <a:spcPts val="600"/>
              </a:spcBef>
              <a:defRPr sz="1200" b="1">
                <a:solidFill>
                  <a:srgbClr val="2563EB"/>
                </a:solidFill>
              </a:defRPr>
            </a:pPr>
            <a:r>
              <a:t>• Tailwind CSS 3.4</a:t>
            </a:r>
          </a:p>
          <a:p>
            <a:pPr>
              <a:defRPr sz="1050">
                <a:solidFill>
                  <a:srgbClr val="475569"/>
                </a:solidFill>
              </a:defRPr>
            </a:pPr>
            <a:r>
              <a:t>  Utility-first responsive styling framework</a:t>
            </a:r>
          </a:p>
          <a:p>
            <a:pPr>
              <a:spcBef>
                <a:spcPts val="600"/>
              </a:spcBef>
              <a:defRPr sz="1200" b="1">
                <a:solidFill>
                  <a:srgbClr val="2563EB"/>
                </a:solidFill>
              </a:defRPr>
            </a:pPr>
            <a:r>
              <a:t>• Lucide React</a:t>
            </a:r>
          </a:p>
          <a:p>
            <a:pPr>
              <a:defRPr sz="1050">
                <a:solidFill>
                  <a:srgbClr val="475569"/>
                </a:solidFill>
              </a:defRPr>
            </a:pPr>
            <a:r>
              <a:t>  Lightweight, consistent SVG icon set</a:t>
            </a:r>
          </a:p>
          <a:p>
            <a:pPr>
              <a:spcBef>
                <a:spcPts val="600"/>
              </a:spcBef>
              <a:defRPr sz="1200" b="1">
                <a:solidFill>
                  <a:srgbClr val="2563EB"/>
                </a:solidFill>
              </a:defRPr>
            </a:pPr>
            <a:r>
              <a:t>• Framer Motion 11</a:t>
            </a:r>
          </a:p>
          <a:p>
            <a:pPr>
              <a:defRPr sz="1050">
                <a:solidFill>
                  <a:srgbClr val="475569"/>
                </a:solidFill>
              </a:defRPr>
            </a:pPr>
            <a:r>
              <a:t>  Declarative animations for modals and steppers</a:t>
            </a:r>
          </a:p>
        </p:txBody>
      </p:sp>
      <p:sp>
        <p:nvSpPr>
          <p:cNvPr id="8" name="Rounded Rectangle 7"/>
          <p:cNvSpPr/>
          <p:nvPr/>
        </p:nvSpPr>
        <p:spPr>
          <a:xfrm>
            <a:off x="4370832" y="1645920"/>
            <a:ext cx="347472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70832" y="1645920"/>
            <a:ext cx="3474720"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920240"/>
            <a:ext cx="3108960" cy="3931920"/>
          </a:xfrm>
          <a:prstGeom prst="rect">
            <a:avLst/>
          </a:prstGeom>
          <a:noFill/>
        </p:spPr>
        <p:txBody>
          <a:bodyPr wrap="square">
            <a:spAutoFit/>
          </a:bodyPr>
          <a:lstStyle/>
          <a:p>
            <a:pPr>
              <a:defRPr sz="1600" b="1">
                <a:solidFill>
                  <a:srgbClr val="0F172A"/>
                </a:solidFill>
              </a:defRPr>
            </a:pPr>
            <a:r>
              <a:t>Backend &amp; Security</a:t>
            </a:r>
          </a:p>
          <a:p>
            <a:pPr>
              <a:spcBef>
                <a:spcPts val="600"/>
              </a:spcBef>
              <a:defRPr sz="1200" b="1">
                <a:solidFill>
                  <a:srgbClr val="0D9488"/>
                </a:solidFill>
              </a:defRPr>
            </a:pPr>
            <a:r>
              <a:t>• Next.js Route Handlers</a:t>
            </a:r>
          </a:p>
          <a:p>
            <a:pPr>
              <a:defRPr sz="1050">
                <a:solidFill>
                  <a:srgbClr val="475569"/>
                </a:solidFill>
              </a:defRPr>
            </a:pPr>
            <a:r>
              <a:t>  Node.js RESTful API endpoints (/api/*)</a:t>
            </a:r>
          </a:p>
          <a:p>
            <a:pPr>
              <a:spcBef>
                <a:spcPts val="600"/>
              </a:spcBef>
              <a:defRPr sz="1200" b="1">
                <a:solidFill>
                  <a:srgbClr val="0D9488"/>
                </a:solidFill>
              </a:defRPr>
            </a:pPr>
            <a:r>
              <a:t>• Jose JWT Library</a:t>
            </a:r>
          </a:p>
          <a:p>
            <a:pPr>
              <a:defRPr sz="1050">
                <a:solidFill>
                  <a:srgbClr val="475569"/>
                </a:solidFill>
              </a:defRPr>
            </a:pPr>
            <a:r>
              <a:t>  HS256 signed tokens stored in HTTP-Only cookies</a:t>
            </a:r>
          </a:p>
          <a:p>
            <a:pPr>
              <a:spcBef>
                <a:spcPts val="600"/>
              </a:spcBef>
              <a:defRPr sz="1200" b="1">
                <a:solidFill>
                  <a:srgbClr val="0D9488"/>
                </a:solidFill>
              </a:defRPr>
            </a:pPr>
            <a:r>
              <a:t>• Bcryptjs</a:t>
            </a:r>
          </a:p>
          <a:p>
            <a:pPr>
              <a:defRPr sz="1050">
                <a:solidFill>
                  <a:srgbClr val="475569"/>
                </a:solidFill>
              </a:defRPr>
            </a:pPr>
            <a:r>
              <a:t>  Cryptographic password hashing and salting</a:t>
            </a:r>
          </a:p>
          <a:p>
            <a:pPr>
              <a:spcBef>
                <a:spcPts val="600"/>
              </a:spcBef>
              <a:defRPr sz="1200" b="1">
                <a:solidFill>
                  <a:srgbClr val="0D9488"/>
                </a:solidFill>
              </a:defRPr>
            </a:pPr>
            <a:r>
              <a:t>• QRCode &amp; jsQR</a:t>
            </a:r>
          </a:p>
          <a:p>
            <a:pPr>
              <a:defRPr sz="1050">
                <a:solidFill>
                  <a:srgbClr val="475569"/>
                </a:solidFill>
              </a:defRPr>
            </a:pPr>
            <a:r>
              <a:t>  Dynamic UPI QR generation and image scanning</a:t>
            </a:r>
          </a:p>
          <a:p>
            <a:pPr>
              <a:spcBef>
                <a:spcPts val="600"/>
              </a:spcBef>
              <a:defRPr sz="1200" b="1">
                <a:solidFill>
                  <a:srgbClr val="0D9488"/>
                </a:solidFill>
              </a:defRPr>
            </a:pPr>
            <a:r>
              <a:t>• Validation Engine</a:t>
            </a:r>
          </a:p>
          <a:p>
            <a:pPr>
              <a:defRPr sz="1050">
                <a:solidFill>
                  <a:srgbClr val="475569"/>
                </a:solidFill>
              </a:defRPr>
            </a:pPr>
            <a:r>
              <a:t>  Server-side sanitization of inputs and payloads</a:t>
            </a:r>
          </a:p>
        </p:txBody>
      </p:sp>
      <p:sp>
        <p:nvSpPr>
          <p:cNvPr id="11" name="Rounded Rectangle 10"/>
          <p:cNvSpPr/>
          <p:nvPr/>
        </p:nvSpPr>
        <p:spPr>
          <a:xfrm>
            <a:off x="8010144" y="1645920"/>
            <a:ext cx="347472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10144" y="1645920"/>
            <a:ext cx="3474720" cy="10972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920240"/>
            <a:ext cx="3108960" cy="3931920"/>
          </a:xfrm>
          <a:prstGeom prst="rect">
            <a:avLst/>
          </a:prstGeom>
          <a:noFill/>
        </p:spPr>
        <p:txBody>
          <a:bodyPr wrap="square">
            <a:spAutoFit/>
          </a:bodyPr>
          <a:lstStyle/>
          <a:p>
            <a:pPr>
              <a:defRPr sz="1600" b="1">
                <a:solidFill>
                  <a:srgbClr val="0F172A"/>
                </a:solidFill>
              </a:defRPr>
            </a:pPr>
            <a:r>
              <a:t>Database &amp; Tooling</a:t>
            </a:r>
          </a:p>
          <a:p>
            <a:pPr>
              <a:spcBef>
                <a:spcPts val="600"/>
              </a:spcBef>
              <a:defRPr sz="1200" b="1">
                <a:solidFill>
                  <a:srgbClr val="1D4ED8"/>
                </a:solidFill>
              </a:defRPr>
            </a:pPr>
            <a:r>
              <a:t>• Prisma ORM 5.21</a:t>
            </a:r>
          </a:p>
          <a:p>
            <a:pPr>
              <a:defRPr sz="1050">
                <a:solidFill>
                  <a:srgbClr val="475569"/>
                </a:solidFill>
              </a:defRPr>
            </a:pPr>
            <a:r>
              <a:t>  Type-safe database client and migration tool</a:t>
            </a:r>
          </a:p>
          <a:p>
            <a:pPr>
              <a:spcBef>
                <a:spcPts val="600"/>
              </a:spcBef>
              <a:defRPr sz="1200" b="1">
                <a:solidFill>
                  <a:srgbClr val="1D4ED8"/>
                </a:solidFill>
              </a:defRPr>
            </a:pPr>
            <a:r>
              <a:t>• SQLite (dev.db)</a:t>
            </a:r>
          </a:p>
          <a:p>
            <a:pPr>
              <a:defRPr sz="1050">
                <a:solidFill>
                  <a:srgbClr val="475569"/>
                </a:solidFill>
              </a:defRPr>
            </a:pPr>
            <a:r>
              <a:t>  ACID-compliant relational database engine</a:t>
            </a:r>
          </a:p>
          <a:p>
            <a:pPr>
              <a:spcBef>
                <a:spcPts val="600"/>
              </a:spcBef>
              <a:defRPr sz="1200" b="1">
                <a:solidFill>
                  <a:srgbClr val="1D4ED8"/>
                </a:solidFill>
              </a:defRPr>
            </a:pPr>
            <a:r>
              <a:t>• tsx Runtime</a:t>
            </a:r>
          </a:p>
          <a:p>
            <a:pPr>
              <a:defRPr sz="1050">
                <a:solidFill>
                  <a:srgbClr val="475569"/>
                </a:solidFill>
              </a:defRPr>
            </a:pPr>
            <a:r>
              <a:t>  TypeScript execution engine for seeding</a:t>
            </a:r>
          </a:p>
          <a:p>
            <a:pPr>
              <a:spcBef>
                <a:spcPts val="600"/>
              </a:spcBef>
              <a:defRPr sz="1200" b="1">
                <a:solidFill>
                  <a:srgbClr val="1D4ED8"/>
                </a:solidFill>
              </a:defRPr>
            </a:pPr>
            <a:r>
              <a:t>• Visual Studio Code</a:t>
            </a:r>
          </a:p>
          <a:p>
            <a:pPr>
              <a:defRPr sz="1050">
                <a:solidFill>
                  <a:srgbClr val="475569"/>
                </a:solidFill>
              </a:defRPr>
            </a:pPr>
            <a:r>
              <a:t>  Primary Integrated Development Environment</a:t>
            </a:r>
          </a:p>
          <a:p>
            <a:pPr>
              <a:spcBef>
                <a:spcPts val="600"/>
              </a:spcBef>
              <a:defRPr sz="1200" b="1">
                <a:solidFill>
                  <a:srgbClr val="1D4ED8"/>
                </a:solidFill>
              </a:defRPr>
            </a:pPr>
            <a:r>
              <a:t>• Git &amp; GitHub</a:t>
            </a:r>
          </a:p>
          <a:p>
            <a:pPr>
              <a:defRPr sz="1050">
                <a:solidFill>
                  <a:srgbClr val="475569"/>
                </a:solidFill>
              </a:defRPr>
            </a:pPr>
            <a:r>
              <a:t>  Version control and collaborative repository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Segoe UI"/>
              </a:defRPr>
            </a:pPr>
            <a:r>
              <a:t>07. ARCHITECTURE &amp; DATA FLOW</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400" b="1">
                <a:solidFill>
                  <a:srgbClr val="0F172A"/>
                </a:solidFill>
                <a:latin typeface="Segoe UI"/>
              </a:defRPr>
            </a:pPr>
            <a:r>
              <a:t>System Architecture — 3-Tier Layered Design</a:t>
            </a:r>
          </a:p>
        </p:txBody>
      </p:sp>
      <p:sp>
        <p:nvSpPr>
          <p:cNvPr id="4" name="Rectangle 3"/>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164592" cy="1234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83080"/>
            <a:ext cx="10058400" cy="960120"/>
          </a:xfrm>
          <a:prstGeom prst="rect">
            <a:avLst/>
          </a:prstGeom>
          <a:noFill/>
        </p:spPr>
        <p:txBody>
          <a:bodyPr wrap="square">
            <a:spAutoFit/>
          </a:bodyPr>
          <a:lstStyle/>
          <a:p>
            <a:pPr>
              <a:defRPr sz="1500" b="1">
                <a:solidFill>
                  <a:srgbClr val="2563EB"/>
                </a:solidFill>
              </a:defRPr>
            </a:pPr>
            <a:r>
              <a:t>Tier 1: Presentation Layer (Client Browser)</a:t>
            </a:r>
          </a:p>
          <a:p>
            <a:pPr>
              <a:spcBef>
                <a:spcPts val="300"/>
              </a:spcBef>
              <a:defRPr sz="1150">
                <a:solidFill>
                  <a:srgbClr val="475569"/>
                </a:solidFill>
              </a:defRPr>
            </a:pPr>
            <a:r>
              <a:t>Next.js Client Components (React 18) • Tailwind CSS • Framer Motion</a:t>
            </a:r>
            <a:br/>
            <a:r>
              <a:t>Handles DOM rendering, local UI state, client-side input validation, and asynchronous fetch requests.</a:t>
            </a:r>
          </a:p>
        </p:txBody>
      </p:sp>
      <p:sp>
        <p:nvSpPr>
          <p:cNvPr id="8" name="Rounded Rectangle 7"/>
          <p:cNvSpPr/>
          <p:nvPr/>
        </p:nvSpPr>
        <p:spPr>
          <a:xfrm>
            <a:off x="731520" y="310896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108960"/>
            <a:ext cx="164592" cy="1234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246120"/>
            <a:ext cx="10058400" cy="960120"/>
          </a:xfrm>
          <a:prstGeom prst="rect">
            <a:avLst/>
          </a:prstGeom>
          <a:noFill/>
        </p:spPr>
        <p:txBody>
          <a:bodyPr wrap="square">
            <a:spAutoFit/>
          </a:bodyPr>
          <a:lstStyle/>
          <a:p>
            <a:pPr>
              <a:defRPr sz="1500" b="1">
                <a:solidFill>
                  <a:srgbClr val="0D9488"/>
                </a:solidFill>
              </a:defRPr>
            </a:pPr>
            <a:r>
              <a:t>Tier 2: Application / API Layer (Next.js Server)</a:t>
            </a:r>
          </a:p>
          <a:p>
            <a:pPr>
              <a:spcBef>
                <a:spcPts val="300"/>
              </a:spcBef>
              <a:defRPr sz="1150">
                <a:solidFill>
                  <a:srgbClr val="475569"/>
                </a:solidFill>
              </a:defRPr>
            </a:pPr>
            <a:r>
              <a:t>Server Route Handlers (/api/*) • JWT Authentication (jose) • Bcryptjs</a:t>
            </a:r>
            <a:br/>
            <a:r>
              <a:t>Executes business logic, role-based authorization, request validation, and database orchestration.</a:t>
            </a:r>
          </a:p>
        </p:txBody>
      </p:sp>
      <p:sp>
        <p:nvSpPr>
          <p:cNvPr id="11" name="Rounded Rectangle 10"/>
          <p:cNvSpPr/>
          <p:nvPr/>
        </p:nvSpPr>
        <p:spPr>
          <a:xfrm>
            <a:off x="731520" y="4572000"/>
            <a:ext cx="10728655"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572000"/>
            <a:ext cx="164592" cy="1234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709160"/>
            <a:ext cx="10058400" cy="960120"/>
          </a:xfrm>
          <a:prstGeom prst="rect">
            <a:avLst/>
          </a:prstGeom>
          <a:noFill/>
        </p:spPr>
        <p:txBody>
          <a:bodyPr wrap="square">
            <a:spAutoFit/>
          </a:bodyPr>
          <a:lstStyle/>
          <a:p>
            <a:pPr>
              <a:defRPr sz="1500" b="1">
                <a:solidFill>
                  <a:srgbClr val="1E293B"/>
                </a:solidFill>
              </a:defRPr>
            </a:pPr>
            <a:r>
              <a:t>Tier 3: Persistence Layer (Prisma ORM &amp; SQLite)</a:t>
            </a:r>
          </a:p>
          <a:p>
            <a:pPr>
              <a:spcBef>
                <a:spcPts val="300"/>
              </a:spcBef>
              <a:defRPr sz="1150">
                <a:solidFill>
                  <a:srgbClr val="475569"/>
                </a:solidFill>
              </a:defRPr>
            </a:pPr>
            <a:r>
              <a:t>Prisma Client Singleton (src/lib/db.ts) • SQLite Relational Engine</a:t>
            </a:r>
            <a:br/>
            <a:r>
              <a:t>Enforces ACID transactions, unique constraints, foreign keys, and atomic inventory mutations.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Segoe UI"/>
              </a:defRPr>
            </a:pPr>
            <a:r>
              <a:t>08. USER INTERFACE ARCHITECTURE</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400" b="1">
                <a:solidFill>
                  <a:srgbClr val="0F172A"/>
                </a:solidFill>
                <a:latin typeface="Segoe UI"/>
              </a:defRPr>
            </a:pPr>
            <a:r>
              <a:t>Frontend Design — UI Hierarchy &amp; Component System</a:t>
            </a:r>
          </a:p>
        </p:txBody>
      </p:sp>
      <p:sp>
        <p:nvSpPr>
          <p:cNvPr id="4" name="Rectangle 3"/>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709160" cy="1691640"/>
          </a:xfrm>
          <a:prstGeom prst="rect">
            <a:avLst/>
          </a:prstGeom>
          <a:noFill/>
        </p:spPr>
        <p:txBody>
          <a:bodyPr wrap="square">
            <a:spAutoFit/>
          </a:bodyPr>
          <a:lstStyle/>
          <a:p>
            <a:pPr>
              <a:defRPr sz="1600" b="1">
                <a:solidFill>
                  <a:srgbClr val="2563EB"/>
                </a:solidFill>
              </a:defRPr>
            </a:pPr>
            <a:r>
              <a:t>Home Landing Page</a:t>
            </a:r>
          </a:p>
          <a:p>
            <a:pPr>
              <a:spcBef>
                <a:spcPts val="600"/>
              </a:spcBef>
              <a:defRPr sz="1200">
                <a:solidFill>
                  <a:srgbClr val="475569"/>
                </a:solidFill>
              </a:defRPr>
            </a:pPr>
            <a:r>
              <a:t>Dynamic hero carousel, department shortcut grid, featured deals, new arrivals, and customer trust badges designed to maximize engagement.</a:t>
            </a:r>
          </a:p>
        </p:txBody>
      </p:sp>
      <p:sp>
        <p:nvSpPr>
          <p:cNvPr id="7" name="Rounded Rectangle 6"/>
          <p:cNvSpPr/>
          <p:nvPr/>
        </p:nvSpPr>
        <p:spPr>
          <a:xfrm>
            <a:off x="6172200" y="164592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09160" cy="1691640"/>
          </a:xfrm>
          <a:prstGeom prst="rect">
            <a:avLst/>
          </a:prstGeom>
          <a:noFill/>
        </p:spPr>
        <p:txBody>
          <a:bodyPr wrap="square">
            <a:spAutoFit/>
          </a:bodyPr>
          <a:lstStyle/>
          <a:p>
            <a:pPr>
              <a:defRPr sz="1600" b="1">
                <a:solidFill>
                  <a:srgbClr val="2563EB"/>
                </a:solidFill>
              </a:defRPr>
            </a:pPr>
            <a:r>
              <a:t>Product Catalog &amp; Multi-Filter</a:t>
            </a:r>
          </a:p>
          <a:p>
            <a:pPr>
              <a:spcBef>
                <a:spcPts val="600"/>
              </a:spcBef>
              <a:defRPr sz="1200">
                <a:solidFill>
                  <a:srgbClr val="475569"/>
                </a:solidFill>
              </a:defRPr>
            </a:pPr>
            <a:r>
              <a:t>Live search input with instant debounced querying. Sidebar filters for categories, price sliders, star ratings, and discount percentages.</a:t>
            </a:r>
          </a:p>
        </p:txBody>
      </p:sp>
      <p:sp>
        <p:nvSpPr>
          <p:cNvPr id="9" name="Rounded Rectangle 8"/>
          <p:cNvSpPr/>
          <p:nvPr/>
        </p:nvSpPr>
        <p:spPr>
          <a:xfrm>
            <a:off x="731520" y="388620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69080"/>
            <a:ext cx="4709160" cy="1691640"/>
          </a:xfrm>
          <a:prstGeom prst="rect">
            <a:avLst/>
          </a:prstGeom>
          <a:noFill/>
        </p:spPr>
        <p:txBody>
          <a:bodyPr wrap="square">
            <a:spAutoFit/>
          </a:bodyPr>
          <a:lstStyle/>
          <a:p>
            <a:pPr>
              <a:defRPr sz="1600" b="1">
                <a:solidFill>
                  <a:srgbClr val="2563EB"/>
                </a:solidFill>
              </a:defRPr>
            </a:pPr>
            <a:r>
              <a:t>Product Details Page</a:t>
            </a:r>
          </a:p>
          <a:p>
            <a:pPr>
              <a:spcBef>
                <a:spcPts val="600"/>
              </a:spcBef>
              <a:defRPr sz="1200">
                <a:solidFill>
                  <a:srgbClr val="475569"/>
                </a:solidFill>
              </a:defRPr>
            </a:pPr>
            <a:r>
              <a:t>Multi-angle image gallery, discount pricing comparison, warehouse stock limit badges, quantity spinner, wishlist toggle, and verified buyer reviews.</a:t>
            </a:r>
          </a:p>
        </p:txBody>
      </p:sp>
      <p:sp>
        <p:nvSpPr>
          <p:cNvPr id="11" name="Rounded Rectangle 10"/>
          <p:cNvSpPr/>
          <p:nvPr/>
        </p:nvSpPr>
        <p:spPr>
          <a:xfrm>
            <a:off x="6172200" y="388620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069080"/>
            <a:ext cx="4709160" cy="1691640"/>
          </a:xfrm>
          <a:prstGeom prst="rect">
            <a:avLst/>
          </a:prstGeom>
          <a:noFill/>
        </p:spPr>
        <p:txBody>
          <a:bodyPr wrap="square">
            <a:spAutoFit/>
          </a:bodyPr>
          <a:lstStyle/>
          <a:p>
            <a:pPr>
              <a:defRPr sz="1600" b="1">
                <a:solidFill>
                  <a:srgbClr val="2563EB"/>
                </a:solidFill>
              </a:defRPr>
            </a:pPr>
            <a:r>
              <a:t>Multi-Step Checkout Stepper</a:t>
            </a:r>
          </a:p>
          <a:p>
            <a:pPr>
              <a:spcBef>
                <a:spcPts val="600"/>
              </a:spcBef>
              <a:defRPr sz="1200">
                <a:solidFill>
                  <a:srgbClr val="475569"/>
                </a:solidFill>
              </a:defRPr>
            </a:pPr>
            <a:r>
              <a:t>3-step guided flow: shipping address selection/modal creation, payment selection (COD vs dynamic UPI QR), and instant order confirmation receipt.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Segoe UI"/>
              </a:defRPr>
            </a:pPr>
            <a:r>
              <a:t>09. SERVER-SIDE LOGIC</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400" b="1">
                <a:solidFill>
                  <a:srgbClr val="0F172A"/>
                </a:solidFill>
                <a:latin typeface="Segoe UI"/>
              </a:defRPr>
            </a:pPr>
            <a:r>
              <a:t>Backend Implementation — APIs &amp; Security Logic</a:t>
            </a:r>
          </a:p>
        </p:txBody>
      </p:sp>
      <p:sp>
        <p:nvSpPr>
          <p:cNvPr id="4" name="Rectangle 3"/>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63440" cy="3931920"/>
          </a:xfrm>
          <a:prstGeom prst="rect">
            <a:avLst/>
          </a:prstGeom>
          <a:noFill/>
        </p:spPr>
        <p:txBody>
          <a:bodyPr wrap="square">
            <a:spAutoFit/>
          </a:bodyPr>
          <a:lstStyle/>
          <a:p>
            <a:pPr>
              <a:defRPr sz="1800" b="1">
                <a:solidFill>
                  <a:srgbClr val="2563EB"/>
                </a:solidFill>
              </a:defRPr>
            </a:pPr>
            <a:r>
              <a:t>Server Architecture &amp; Security</a:t>
            </a:r>
          </a:p>
          <a:p>
            <a:pPr>
              <a:spcBef>
                <a:spcPts val="800"/>
              </a:spcBef>
              <a:defRPr sz="1200">
                <a:solidFill>
                  <a:srgbClr val="475569"/>
                </a:solidFill>
              </a:defRPr>
            </a:pPr>
            <a:r>
              <a:t>• RESTful Route Handlers: Expressive HTTP methods (GET, POST, PUT, PATCH, DELETE) mapped under /api/*.</a:t>
            </a:r>
          </a:p>
          <a:p>
            <a:pPr>
              <a:spcBef>
                <a:spcPts val="800"/>
              </a:spcBef>
              <a:defRPr sz="1200">
                <a:solidFill>
                  <a:srgbClr val="475569"/>
                </a:solidFill>
              </a:defRPr>
            </a:pPr>
            <a:r>
              <a:t>• Stateless JWT Verification: Every incoming request extracts the 'ym_session' cookie and verifies cryptographic signatures with 'jose'.</a:t>
            </a:r>
          </a:p>
          <a:p>
            <a:pPr>
              <a:spcBef>
                <a:spcPts val="800"/>
              </a:spcBef>
              <a:defRPr sz="1200">
                <a:solidFill>
                  <a:srgbClr val="475569"/>
                </a:solidFill>
              </a:defRPr>
            </a:pPr>
            <a:r>
              <a:t>• Role-Based Isolation (RBAC): Admin routes verify role === 'ADMIN' against the Admin table, preventing customer privilege escalation.</a:t>
            </a:r>
          </a:p>
          <a:p>
            <a:pPr>
              <a:spcBef>
                <a:spcPts val="800"/>
              </a:spcBef>
              <a:defRPr sz="1200">
                <a:solidFill>
                  <a:srgbClr val="475569"/>
                </a:solidFill>
              </a:defRPr>
            </a:pPr>
            <a:r>
              <a:t>• Password Salting: Passwords hashed via bcryptjs with 10 salt rounds prior to persistence.</a:t>
            </a:r>
          </a:p>
        </p:txBody>
      </p:sp>
      <p:sp>
        <p:nvSpPr>
          <p:cNvPr id="7" name="Rounded Rectangle 6"/>
          <p:cNvSpPr/>
          <p:nvPr/>
        </p:nvSpPr>
        <p:spPr>
          <a:xfrm>
            <a:off x="6217920" y="1645920"/>
            <a:ext cx="5212080" cy="4389120"/>
          </a:xfrm>
          <a:prstGeom prst="roundRect">
            <a:avLst/>
          </a:prstGeom>
          <a:solidFill>
            <a:srgbClr val="0F172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3931920"/>
          </a:xfrm>
          <a:prstGeom prst="rect">
            <a:avLst/>
          </a:prstGeom>
          <a:noFill/>
        </p:spPr>
        <p:txBody>
          <a:bodyPr wrap="square">
            <a:spAutoFit/>
          </a:bodyPr>
          <a:lstStyle/>
          <a:p>
            <a:pPr>
              <a:defRPr sz="1200" b="1">
                <a:solidFill>
                  <a:srgbClr val="38BDF8"/>
                </a:solidFill>
                <a:latin typeface="Consolas"/>
              </a:defRPr>
            </a:pPr>
            <a:r>
              <a:t>// Session Creation (src/lib/auth.ts)</a:t>
            </a:r>
          </a:p>
          <a:p>
            <a:pPr>
              <a:spcBef>
                <a:spcPts val="1000"/>
              </a:spcBef>
              <a:defRPr sz="1100">
                <a:solidFill>
                  <a:srgbClr val="E2E8F0"/>
                </a:solidFill>
                <a:latin typeface="Consolas"/>
              </a:defRPr>
            </a:pPr>
            <a:r>
              <a:t>const token = await new SignJWT({ ...payload })</a:t>
            </a:r>
            <a:br/>
            <a:r>
              <a:t>  .setProtectedHeader({ alg: 'HS256' })</a:t>
            </a:r>
            <a:br/>
            <a:r>
              <a:t>  .setIssuedAt()</a:t>
            </a:r>
            <a:br/>
            <a:r>
              <a:t>  .setExpirationTime('7d')</a:t>
            </a:r>
            <a:br/>
            <a:r>
              <a:t>  .sign(SECRET_KEY);</a:t>
            </a:r>
            <a:br/>
            <a:br/>
            <a:r>
              <a:t>const cookieStore = cookies();</a:t>
            </a:r>
            <a:br/>
            <a:r>
              <a:t>cookieStore.set('ym_session', token, {</a:t>
            </a:r>
            <a:br/>
            <a:r>
              <a:t>  httpOnly: true,</a:t>
            </a:r>
            <a:br/>
            <a:r>
              <a:t>  secure: process.env.NODE_ENV === 'prod',</a:t>
            </a:r>
            <a:br/>
            <a:r>
              <a:t>  sameSite: 'lax',</a:t>
            </a:r>
            <a:br/>
            <a:r>
              <a:t>  path: '/',</a:t>
            </a:r>
            <a:br/>
            <a:r>
              <a:t>  expires: expiresAt,</a:t>
            </a:r>
            <a:b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Segoe UI"/>
              </a:defRPr>
            </a:pPr>
            <a:r>
              <a:t>10. DATA MODELING &amp; PERSISTENCE</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400" b="1">
                <a:solidFill>
                  <a:srgbClr val="0F172A"/>
                </a:solidFill>
                <a:latin typeface="Segoe UI"/>
              </a:defRPr>
            </a:pPr>
            <a:r>
              <a:t>Database Design — Schema &amp; Relational Models</a:t>
            </a:r>
          </a:p>
        </p:txBody>
      </p:sp>
      <p:sp>
        <p:nvSpPr>
          <p:cNvPr id="4" name="Rectangle 3"/>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709160" cy="1691640"/>
          </a:xfrm>
          <a:prstGeom prst="rect">
            <a:avLst/>
          </a:prstGeom>
          <a:noFill/>
        </p:spPr>
        <p:txBody>
          <a:bodyPr wrap="square">
            <a:spAutoFit/>
          </a:bodyPr>
          <a:lstStyle/>
          <a:p>
            <a:pPr>
              <a:defRPr sz="1600" b="1">
                <a:solidFill>
                  <a:srgbClr val="2563EB"/>
                </a:solidFill>
              </a:defRPr>
            </a:pPr>
            <a:r>
              <a:t>User &amp; Authentication</a:t>
            </a:r>
          </a:p>
          <a:p>
            <a:pPr>
              <a:spcBef>
                <a:spcPts val="600"/>
              </a:spcBef>
              <a:defRPr sz="1200">
                <a:solidFill>
                  <a:srgbClr val="475569"/>
                </a:solidFill>
              </a:defRPr>
            </a:pPr>
            <a:r>
              <a:t>• User (id, name, email, phone, role)</a:t>
            </a:r>
            <a:br/>
            <a:r>
              <a:t>• Admin (id, name, email, role)</a:t>
            </a:r>
            <a:br/>
            <a:r>
              <a:t>• Session (id, userId, token, expiresAt)</a:t>
            </a:r>
          </a:p>
        </p:txBody>
      </p:sp>
      <p:sp>
        <p:nvSpPr>
          <p:cNvPr id="7" name="Rounded Rectangle 6"/>
          <p:cNvSpPr/>
          <p:nvPr/>
        </p:nvSpPr>
        <p:spPr>
          <a:xfrm>
            <a:off x="6172200" y="164592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09160" cy="1691640"/>
          </a:xfrm>
          <a:prstGeom prst="rect">
            <a:avLst/>
          </a:prstGeom>
          <a:noFill/>
        </p:spPr>
        <p:txBody>
          <a:bodyPr wrap="square">
            <a:spAutoFit/>
          </a:bodyPr>
          <a:lstStyle/>
          <a:p>
            <a:pPr>
              <a:defRPr sz="1600" b="1">
                <a:solidFill>
                  <a:srgbClr val="0D9488"/>
                </a:solidFill>
              </a:defRPr>
            </a:pPr>
            <a:r>
              <a:t>Product &amp; Catalog</a:t>
            </a:r>
          </a:p>
          <a:p>
            <a:pPr>
              <a:spcBef>
                <a:spcPts val="600"/>
              </a:spcBef>
              <a:defRPr sz="1200">
                <a:solidFill>
                  <a:srgbClr val="475569"/>
                </a:solidFill>
              </a:defRPr>
            </a:pPr>
            <a:r>
              <a:t>• Category (id, name, slug, parentId)</a:t>
            </a:r>
            <a:br/>
            <a:r>
              <a:t>• Product (id, name, price, stock, images)</a:t>
            </a:r>
            <a:br/>
            <a:r>
              <a:t>• Self-referencing category hierarchy</a:t>
            </a:r>
          </a:p>
        </p:txBody>
      </p:sp>
      <p:sp>
        <p:nvSpPr>
          <p:cNvPr id="9" name="Rounded Rectangle 8"/>
          <p:cNvSpPr/>
          <p:nvPr/>
        </p:nvSpPr>
        <p:spPr>
          <a:xfrm>
            <a:off x="731520" y="388620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69080"/>
            <a:ext cx="4709160" cy="1691640"/>
          </a:xfrm>
          <a:prstGeom prst="rect">
            <a:avLst/>
          </a:prstGeom>
          <a:noFill/>
        </p:spPr>
        <p:txBody>
          <a:bodyPr wrap="square">
            <a:spAutoFit/>
          </a:bodyPr>
          <a:lstStyle/>
          <a:p>
            <a:pPr>
              <a:defRPr sz="1600" b="1">
                <a:solidFill>
                  <a:srgbClr val="1D4ED8"/>
                </a:solidFill>
              </a:defRPr>
            </a:pPr>
            <a:r>
              <a:t>Cart, Wishlist &amp; Address</a:t>
            </a:r>
          </a:p>
          <a:p>
            <a:pPr>
              <a:spcBef>
                <a:spcPts val="600"/>
              </a:spcBef>
              <a:defRPr sz="1200">
                <a:solidFill>
                  <a:srgbClr val="475569"/>
                </a:solidFill>
              </a:defRPr>
            </a:pPr>
            <a:r>
              <a:t>• Cart (id, userId) &amp; CartItem (quantity)</a:t>
            </a:r>
            <a:br/>
            <a:r>
              <a:t>• Wishlist (id, userId) &amp; WishlistItem</a:t>
            </a:r>
            <a:br/>
            <a:r>
              <a:t>• Address (fullName, street, pincode)</a:t>
            </a:r>
          </a:p>
        </p:txBody>
      </p:sp>
      <p:sp>
        <p:nvSpPr>
          <p:cNvPr id="11" name="Rounded Rectangle 10"/>
          <p:cNvSpPr/>
          <p:nvPr/>
        </p:nvSpPr>
        <p:spPr>
          <a:xfrm>
            <a:off x="6172200" y="388620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069080"/>
            <a:ext cx="4709160" cy="1691640"/>
          </a:xfrm>
          <a:prstGeom prst="rect">
            <a:avLst/>
          </a:prstGeom>
          <a:noFill/>
        </p:spPr>
        <p:txBody>
          <a:bodyPr wrap="square">
            <a:spAutoFit/>
          </a:bodyPr>
          <a:lstStyle/>
          <a:p>
            <a:pPr>
              <a:defRPr sz="1600" b="1">
                <a:solidFill>
                  <a:srgbClr val="1E293B"/>
                </a:solidFill>
              </a:defRPr>
            </a:pPr>
            <a:r>
              <a:t>Order &amp; Verified Reviews</a:t>
            </a:r>
          </a:p>
          <a:p>
            <a:pPr>
              <a:spcBef>
                <a:spcPts val="600"/>
              </a:spcBef>
              <a:defRPr sz="1200">
                <a:solidFill>
                  <a:srgbClr val="475569"/>
                </a:solidFill>
              </a:defRPr>
            </a:pPr>
            <a:r>
              <a:t>• Order (orderNumber, status, paymentMethod)</a:t>
            </a:r>
            <a:br/>
            <a:r>
              <a:t>• OrderItem (price, quantity, snapshot)</a:t>
            </a:r>
            <a:br/>
            <a:r>
              <a:t>• Review (userId, productId, rating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Segoe UI"/>
              </a:defRPr>
            </a:pPr>
            <a:r>
              <a:t>11. DATA MANIPULATION OPERATIONS</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400" b="1">
                <a:solidFill>
                  <a:srgbClr val="0F172A"/>
                </a:solidFill>
                <a:latin typeface="Segoe UI"/>
              </a:defRPr>
            </a:pPr>
            <a:r>
              <a:t>CRUD Operations — Implementation in YashodhaMart</a:t>
            </a:r>
          </a:p>
        </p:txBody>
      </p:sp>
      <p:sp>
        <p:nvSpPr>
          <p:cNvPr id="4" name="Rectangle 3"/>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56032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2560320"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20240"/>
            <a:ext cx="2286000" cy="3931920"/>
          </a:xfrm>
          <a:prstGeom prst="rect">
            <a:avLst/>
          </a:prstGeom>
          <a:noFill/>
        </p:spPr>
        <p:txBody>
          <a:bodyPr wrap="square">
            <a:spAutoFit/>
          </a:bodyPr>
          <a:lstStyle/>
          <a:p>
            <a:pPr>
              <a:defRPr sz="1800" b="1">
                <a:solidFill>
                  <a:srgbClr val="10B981"/>
                </a:solidFill>
              </a:defRPr>
            </a:pPr>
            <a:r>
              <a:t>CREATE</a:t>
            </a:r>
          </a:p>
          <a:p>
            <a:pPr>
              <a:spcBef>
                <a:spcPts val="200"/>
              </a:spcBef>
              <a:defRPr sz="1100" b="1">
                <a:solidFill>
                  <a:srgbClr val="475569"/>
                </a:solidFill>
              </a:defRPr>
            </a:pPr>
            <a:r>
              <a:t>POST Requests</a:t>
            </a:r>
          </a:p>
          <a:p>
            <a:pPr>
              <a:spcBef>
                <a:spcPts val="600"/>
              </a:spcBef>
              <a:defRPr sz="1100">
                <a:solidFill>
                  <a:srgbClr val="0F172A"/>
                </a:solidFill>
              </a:defRPr>
            </a:pPr>
            <a:r>
              <a:t>• User: Registration &amp; Session Creation</a:t>
            </a:r>
          </a:p>
          <a:p>
            <a:pPr>
              <a:spcBef>
                <a:spcPts val="600"/>
              </a:spcBef>
              <a:defRPr sz="1100">
                <a:solidFill>
                  <a:srgbClr val="0F172A"/>
                </a:solidFill>
              </a:defRPr>
            </a:pPr>
            <a:r>
              <a:t>• Admin: Add New Products &amp; Categories</a:t>
            </a:r>
          </a:p>
          <a:p>
            <a:pPr>
              <a:spcBef>
                <a:spcPts val="600"/>
              </a:spcBef>
              <a:defRPr sz="1100">
                <a:solidFill>
                  <a:srgbClr val="0F172A"/>
                </a:solidFill>
              </a:defRPr>
            </a:pPr>
            <a:r>
              <a:t>• Customer: Add to Cart &amp; Wishlist</a:t>
            </a:r>
          </a:p>
          <a:p>
            <a:pPr>
              <a:spcBef>
                <a:spcPts val="600"/>
              </a:spcBef>
              <a:defRPr sz="1100">
                <a:solidFill>
                  <a:srgbClr val="0F172A"/>
                </a:solidFill>
              </a:defRPr>
            </a:pPr>
            <a:r>
              <a:t>• Checkout: Atomic Order Placement</a:t>
            </a:r>
          </a:p>
        </p:txBody>
      </p:sp>
      <p:sp>
        <p:nvSpPr>
          <p:cNvPr id="8" name="Rounded Rectangle 7"/>
          <p:cNvSpPr/>
          <p:nvPr/>
        </p:nvSpPr>
        <p:spPr>
          <a:xfrm>
            <a:off x="3456432" y="1645920"/>
            <a:ext cx="256032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56432" y="1645920"/>
            <a:ext cx="256032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93592" y="1920240"/>
            <a:ext cx="2286000" cy="3931920"/>
          </a:xfrm>
          <a:prstGeom prst="rect">
            <a:avLst/>
          </a:prstGeom>
          <a:noFill/>
        </p:spPr>
        <p:txBody>
          <a:bodyPr wrap="square">
            <a:spAutoFit/>
          </a:bodyPr>
          <a:lstStyle/>
          <a:p>
            <a:pPr>
              <a:defRPr sz="1800" b="1">
                <a:solidFill>
                  <a:srgbClr val="2563EB"/>
                </a:solidFill>
              </a:defRPr>
            </a:pPr>
            <a:r>
              <a:t>READ</a:t>
            </a:r>
          </a:p>
          <a:p>
            <a:pPr>
              <a:spcBef>
                <a:spcPts val="200"/>
              </a:spcBef>
              <a:defRPr sz="1100" b="1">
                <a:solidFill>
                  <a:srgbClr val="475569"/>
                </a:solidFill>
              </a:defRPr>
            </a:pPr>
            <a:r>
              <a:t>GET Requests</a:t>
            </a:r>
          </a:p>
          <a:p>
            <a:pPr>
              <a:spcBef>
                <a:spcPts val="600"/>
              </a:spcBef>
              <a:defRPr sz="1100">
                <a:solidFill>
                  <a:srgbClr val="0F172A"/>
                </a:solidFill>
              </a:defRPr>
            </a:pPr>
            <a:r>
              <a:t>• Storefront: Multi-Filter Product Catalog</a:t>
            </a:r>
          </a:p>
          <a:p>
            <a:pPr>
              <a:spcBef>
                <a:spcPts val="600"/>
              </a:spcBef>
              <a:defRPr sz="1100">
                <a:solidFill>
                  <a:srgbClr val="0F172A"/>
                </a:solidFill>
              </a:defRPr>
            </a:pPr>
            <a:r>
              <a:t>• Product Details: Images, MRP &amp; Reviews</a:t>
            </a:r>
          </a:p>
          <a:p>
            <a:pPr>
              <a:spcBef>
                <a:spcPts val="600"/>
              </a:spcBef>
              <a:defRPr sz="1100">
                <a:solidFill>
                  <a:srgbClr val="0F172A"/>
                </a:solidFill>
              </a:defRPr>
            </a:pPr>
            <a:r>
              <a:t>• Cart &amp; Wishlist: Real-Time Subtotals</a:t>
            </a:r>
          </a:p>
          <a:p>
            <a:pPr>
              <a:spcBef>
                <a:spcPts val="600"/>
              </a:spcBef>
              <a:defRPr sz="1100">
                <a:solidFill>
                  <a:srgbClr val="0F172A"/>
                </a:solidFill>
              </a:defRPr>
            </a:pPr>
            <a:r>
              <a:t>• Admin: KPI Metrics &amp; Order Pipeline</a:t>
            </a:r>
          </a:p>
        </p:txBody>
      </p:sp>
      <p:sp>
        <p:nvSpPr>
          <p:cNvPr id="11" name="Rounded Rectangle 10"/>
          <p:cNvSpPr/>
          <p:nvPr/>
        </p:nvSpPr>
        <p:spPr>
          <a:xfrm>
            <a:off x="6181344" y="1645920"/>
            <a:ext cx="256032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81344" y="1645920"/>
            <a:ext cx="2560320"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18504" y="1920240"/>
            <a:ext cx="2286000" cy="3931920"/>
          </a:xfrm>
          <a:prstGeom prst="rect">
            <a:avLst/>
          </a:prstGeom>
          <a:noFill/>
        </p:spPr>
        <p:txBody>
          <a:bodyPr wrap="square">
            <a:spAutoFit/>
          </a:bodyPr>
          <a:lstStyle/>
          <a:p>
            <a:pPr>
              <a:defRPr sz="1800" b="1">
                <a:solidFill>
                  <a:srgbClr val="F59E0B"/>
                </a:solidFill>
              </a:defRPr>
            </a:pPr>
            <a:r>
              <a:t>UPDATE</a:t>
            </a:r>
          </a:p>
          <a:p>
            <a:pPr>
              <a:spcBef>
                <a:spcPts val="200"/>
              </a:spcBef>
              <a:defRPr sz="1100" b="1">
                <a:solidFill>
                  <a:srgbClr val="475569"/>
                </a:solidFill>
              </a:defRPr>
            </a:pPr>
            <a:r>
              <a:t>PUT / PATCH Requests</a:t>
            </a:r>
          </a:p>
          <a:p>
            <a:pPr>
              <a:spcBef>
                <a:spcPts val="600"/>
              </a:spcBef>
              <a:defRPr sz="1100">
                <a:solidFill>
                  <a:srgbClr val="0F172A"/>
                </a:solidFill>
              </a:defRPr>
            </a:pPr>
            <a:r>
              <a:t>• Admin: Product Price, Stock &amp; Status</a:t>
            </a:r>
          </a:p>
          <a:p>
            <a:pPr>
              <a:spcBef>
                <a:spcPts val="600"/>
              </a:spcBef>
              <a:defRPr sz="1100">
                <a:solidFill>
                  <a:srgbClr val="0F172A"/>
                </a:solidFill>
              </a:defRPr>
            </a:pPr>
            <a:r>
              <a:t>• Cart: Item Quantity Increment/Decrement</a:t>
            </a:r>
          </a:p>
          <a:p>
            <a:pPr>
              <a:spcBef>
                <a:spcPts val="600"/>
              </a:spcBef>
              <a:defRPr sz="1100">
                <a:solidFill>
                  <a:srgbClr val="0F172A"/>
                </a:solidFill>
              </a:defRPr>
            </a:pPr>
            <a:r>
              <a:t>• Admin: Advance Order Shipment Status</a:t>
            </a:r>
          </a:p>
          <a:p>
            <a:pPr>
              <a:spcBef>
                <a:spcPts val="600"/>
              </a:spcBef>
              <a:defRPr sz="1100">
                <a:solidFill>
                  <a:srgbClr val="0F172A"/>
                </a:solidFill>
              </a:defRPr>
            </a:pPr>
            <a:r>
              <a:t>• Address: Edit Saved Shipping Details</a:t>
            </a:r>
          </a:p>
        </p:txBody>
      </p:sp>
      <p:sp>
        <p:nvSpPr>
          <p:cNvPr id="14" name="Rounded Rectangle 13"/>
          <p:cNvSpPr/>
          <p:nvPr/>
        </p:nvSpPr>
        <p:spPr>
          <a:xfrm>
            <a:off x="8906256" y="1645920"/>
            <a:ext cx="256032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906256" y="1645920"/>
            <a:ext cx="2560320" cy="10972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43416" y="1920240"/>
            <a:ext cx="2286000" cy="3931920"/>
          </a:xfrm>
          <a:prstGeom prst="rect">
            <a:avLst/>
          </a:prstGeom>
          <a:noFill/>
        </p:spPr>
        <p:txBody>
          <a:bodyPr wrap="square">
            <a:spAutoFit/>
          </a:bodyPr>
          <a:lstStyle/>
          <a:p>
            <a:pPr>
              <a:defRPr sz="1800" b="1">
                <a:solidFill>
                  <a:srgbClr val="DC2626"/>
                </a:solidFill>
              </a:defRPr>
            </a:pPr>
            <a:r>
              <a:t>DELETE</a:t>
            </a:r>
          </a:p>
          <a:p>
            <a:pPr>
              <a:spcBef>
                <a:spcPts val="200"/>
              </a:spcBef>
              <a:defRPr sz="1100" b="1">
                <a:solidFill>
                  <a:srgbClr val="475569"/>
                </a:solidFill>
              </a:defRPr>
            </a:pPr>
            <a:r>
              <a:t>DELETE Requests</a:t>
            </a:r>
          </a:p>
          <a:p>
            <a:pPr>
              <a:spcBef>
                <a:spcPts val="600"/>
              </a:spcBef>
              <a:defRPr sz="1100">
                <a:solidFill>
                  <a:srgbClr val="0F172A"/>
                </a:solidFill>
              </a:defRPr>
            </a:pPr>
            <a:r>
              <a:t>• Admin: Delete Outdated Product Listings</a:t>
            </a:r>
          </a:p>
          <a:p>
            <a:pPr>
              <a:spcBef>
                <a:spcPts val="600"/>
              </a:spcBef>
              <a:defRPr sz="1100">
                <a:solidFill>
                  <a:srgbClr val="0F172A"/>
                </a:solidFill>
              </a:defRPr>
            </a:pPr>
            <a:r>
              <a:t>• Cart: Remove Specific Cart Items</a:t>
            </a:r>
          </a:p>
          <a:p>
            <a:pPr>
              <a:spcBef>
                <a:spcPts val="600"/>
              </a:spcBef>
              <a:defRPr sz="1100">
                <a:solidFill>
                  <a:srgbClr val="0F172A"/>
                </a:solidFill>
              </a:defRPr>
            </a:pPr>
            <a:r>
              <a:t>• Wishlist: Remove Bookmarked Products</a:t>
            </a:r>
          </a:p>
          <a:p>
            <a:pPr>
              <a:spcBef>
                <a:spcPts val="600"/>
              </a:spcBef>
              <a:defRPr sz="1100">
                <a:solidFill>
                  <a:srgbClr val="0F172A"/>
                </a:solidFill>
              </a:defRPr>
            </a:pPr>
            <a:r>
              <a:t>• Customer: Cancel Order (Restores Stock)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Segoe UI"/>
              </a:defRPr>
            </a:pPr>
            <a:r>
              <a:t>12. APPLICATION WORKFLOW</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400" b="1">
                <a:solidFill>
                  <a:srgbClr val="0F172A"/>
                </a:solidFill>
                <a:latin typeface="Segoe UI"/>
              </a:defRPr>
            </a:pPr>
            <a:r>
              <a:t>Main Features &amp; End-to-End User Workflow</a:t>
            </a:r>
          </a:p>
        </p:txBody>
      </p:sp>
      <p:sp>
        <p:nvSpPr>
          <p:cNvPr id="4" name="Rectangle 3"/>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10058400" cy="457200"/>
          </a:xfrm>
          <a:prstGeom prst="rect">
            <a:avLst/>
          </a:prstGeom>
          <a:noFill/>
        </p:spPr>
        <p:txBody>
          <a:bodyPr wrap="square">
            <a:spAutoFit/>
          </a:bodyPr>
          <a:lstStyle/>
          <a:p>
            <a:pPr>
              <a:defRPr sz="1300" b="1">
                <a:solidFill>
                  <a:srgbClr val="2563EB"/>
                </a:solidFill>
              </a:defRPr>
            </a:pPr>
            <a:r>
              <a:t>1. Discovery</a:t>
            </a:r>
          </a:p>
          <a:p>
            <a:pPr>
              <a:defRPr sz="1150">
                <a:solidFill>
                  <a:srgbClr val="475569"/>
                </a:solidFill>
              </a:defRPr>
            </a:pPr>
            <a:r>
              <a:t>   Browse Hero Slider, Categories, or Search by keyword with filters.</a:t>
            </a:r>
          </a:p>
        </p:txBody>
      </p:sp>
      <p:sp>
        <p:nvSpPr>
          <p:cNvPr id="7" name="Rounded Rectangle 6"/>
          <p:cNvSpPr/>
          <p:nvPr/>
        </p:nvSpPr>
        <p:spPr>
          <a:xfrm>
            <a:off x="731520" y="2377440"/>
            <a:ext cx="10728655"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468880"/>
            <a:ext cx="10058400" cy="457200"/>
          </a:xfrm>
          <a:prstGeom prst="rect">
            <a:avLst/>
          </a:prstGeom>
          <a:noFill/>
        </p:spPr>
        <p:txBody>
          <a:bodyPr wrap="square">
            <a:spAutoFit/>
          </a:bodyPr>
          <a:lstStyle/>
          <a:p>
            <a:pPr>
              <a:defRPr sz="1300" b="1">
                <a:solidFill>
                  <a:srgbClr val="2563EB"/>
                </a:solidFill>
              </a:defRPr>
            </a:pPr>
            <a:r>
              <a:t>2. Item Selection</a:t>
            </a:r>
          </a:p>
          <a:p>
            <a:pPr>
              <a:defRPr sz="1150">
                <a:solidFill>
                  <a:srgbClr val="475569"/>
                </a:solidFill>
              </a:defRPr>
            </a:pPr>
            <a:r>
              <a:t>   Inspect details, verify stock count, select quantity, add to cart.</a:t>
            </a:r>
          </a:p>
        </p:txBody>
      </p:sp>
      <p:sp>
        <p:nvSpPr>
          <p:cNvPr id="9" name="Rounded Rectangle 8"/>
          <p:cNvSpPr/>
          <p:nvPr/>
        </p:nvSpPr>
        <p:spPr>
          <a:xfrm>
            <a:off x="731520" y="3108960"/>
            <a:ext cx="10728655"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200400"/>
            <a:ext cx="10058400" cy="457200"/>
          </a:xfrm>
          <a:prstGeom prst="rect">
            <a:avLst/>
          </a:prstGeom>
          <a:noFill/>
        </p:spPr>
        <p:txBody>
          <a:bodyPr wrap="square">
            <a:spAutoFit/>
          </a:bodyPr>
          <a:lstStyle/>
          <a:p>
            <a:pPr>
              <a:defRPr sz="1300" b="1">
                <a:solidFill>
                  <a:srgbClr val="2563EB"/>
                </a:solidFill>
              </a:defRPr>
            </a:pPr>
            <a:r>
              <a:t>3. Cart Review</a:t>
            </a:r>
          </a:p>
          <a:p>
            <a:pPr>
              <a:defRPr sz="1150">
                <a:solidFill>
                  <a:srgbClr val="475569"/>
                </a:solidFill>
              </a:defRPr>
            </a:pPr>
            <a:r>
              <a:t>   Review subtotal, delivery charge breakdown (free shipping &gt; ₹500).</a:t>
            </a:r>
          </a:p>
        </p:txBody>
      </p:sp>
      <p:sp>
        <p:nvSpPr>
          <p:cNvPr id="11" name="Rounded Rectangle 10"/>
          <p:cNvSpPr/>
          <p:nvPr/>
        </p:nvSpPr>
        <p:spPr>
          <a:xfrm>
            <a:off x="731520" y="3840480"/>
            <a:ext cx="10728655"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931920"/>
            <a:ext cx="10058400" cy="457200"/>
          </a:xfrm>
          <a:prstGeom prst="rect">
            <a:avLst/>
          </a:prstGeom>
          <a:noFill/>
        </p:spPr>
        <p:txBody>
          <a:bodyPr wrap="square">
            <a:spAutoFit/>
          </a:bodyPr>
          <a:lstStyle/>
          <a:p>
            <a:pPr>
              <a:defRPr sz="1300" b="1">
                <a:solidFill>
                  <a:srgbClr val="2563EB"/>
                </a:solidFill>
              </a:defRPr>
            </a:pPr>
            <a:r>
              <a:t>4. Address Selection</a:t>
            </a:r>
          </a:p>
          <a:p>
            <a:pPr>
              <a:defRPr sz="1150">
                <a:solidFill>
                  <a:srgbClr val="475569"/>
                </a:solidFill>
              </a:defRPr>
            </a:pPr>
            <a:r>
              <a:t>   Pick existing saved Indian address or create new address via modal.</a:t>
            </a:r>
          </a:p>
        </p:txBody>
      </p:sp>
      <p:sp>
        <p:nvSpPr>
          <p:cNvPr id="13" name="Rounded Rectangle 12"/>
          <p:cNvSpPr/>
          <p:nvPr/>
        </p:nvSpPr>
        <p:spPr>
          <a:xfrm>
            <a:off x="731520" y="4572000"/>
            <a:ext cx="10728655"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663440"/>
            <a:ext cx="10058400" cy="457200"/>
          </a:xfrm>
          <a:prstGeom prst="rect">
            <a:avLst/>
          </a:prstGeom>
          <a:noFill/>
        </p:spPr>
        <p:txBody>
          <a:bodyPr wrap="square">
            <a:spAutoFit/>
          </a:bodyPr>
          <a:lstStyle/>
          <a:p>
            <a:pPr>
              <a:defRPr sz="1300" b="1">
                <a:solidFill>
                  <a:srgbClr val="2563EB"/>
                </a:solidFill>
              </a:defRPr>
            </a:pPr>
            <a:r>
              <a:t>5. Payment Mode</a:t>
            </a:r>
          </a:p>
          <a:p>
            <a:pPr>
              <a:defRPr sz="1150">
                <a:solidFill>
                  <a:srgbClr val="475569"/>
                </a:solidFill>
              </a:defRPr>
            </a:pPr>
            <a:r>
              <a:t>   Choose Cash on Delivery (COD) or scan dynamic UPI QR Code.</a:t>
            </a:r>
          </a:p>
        </p:txBody>
      </p:sp>
      <p:sp>
        <p:nvSpPr>
          <p:cNvPr id="15" name="Rounded Rectangle 14"/>
          <p:cNvSpPr/>
          <p:nvPr/>
        </p:nvSpPr>
        <p:spPr>
          <a:xfrm>
            <a:off x="731520" y="5303520"/>
            <a:ext cx="10728655"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394960"/>
            <a:ext cx="10058400" cy="457200"/>
          </a:xfrm>
          <a:prstGeom prst="rect">
            <a:avLst/>
          </a:prstGeom>
          <a:noFill/>
        </p:spPr>
        <p:txBody>
          <a:bodyPr wrap="square">
            <a:spAutoFit/>
          </a:bodyPr>
          <a:lstStyle/>
          <a:p>
            <a:pPr>
              <a:defRPr sz="1300" b="1">
                <a:solidFill>
                  <a:srgbClr val="2563EB"/>
                </a:solidFill>
              </a:defRPr>
            </a:pPr>
            <a:r>
              <a:t>6. Order Tracking</a:t>
            </a:r>
          </a:p>
          <a:p>
            <a:pPr>
              <a:defRPr sz="1150">
                <a:solidFill>
                  <a:srgbClr val="475569"/>
                </a:solidFill>
              </a:defRPr>
            </a:pPr>
            <a:r>
              <a:t>   Receive YM-ORD ID, view receipt, track status, or cancel with stock rollback.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Segoe UI"/>
              </a:defRPr>
            </a:pPr>
            <a:r>
              <a:t>13. SYSTEM DEMONSTRATION</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400" b="1">
                <a:solidFill>
                  <a:srgbClr val="0F172A"/>
                </a:solidFill>
                <a:latin typeface="Segoe UI"/>
              </a:defRPr>
            </a:pPr>
            <a:r>
              <a:t>Application Screenshots — Verified Live Application</a:t>
            </a:r>
          </a:p>
        </p:txBody>
      </p:sp>
      <p:sp>
        <p:nvSpPr>
          <p:cNvPr id="4" name="Rectangle 3"/>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47472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1_home.png"/>
          <p:cNvPicPr>
            <a:picLocks noChangeAspect="1"/>
          </p:cNvPicPr>
          <p:nvPr/>
        </p:nvPicPr>
        <p:blipFill>
          <a:blip r:embed="rId2"/>
          <a:stretch>
            <a:fillRect/>
          </a:stretch>
        </p:blipFill>
        <p:spPr>
          <a:xfrm>
            <a:off x="822960" y="1737360"/>
            <a:ext cx="3291840" cy="1691640"/>
          </a:xfrm>
          <a:prstGeom prst="rect">
            <a:avLst/>
          </a:prstGeom>
        </p:spPr>
      </p:pic>
      <p:sp>
        <p:nvSpPr>
          <p:cNvPr id="7" name="TextBox 6"/>
          <p:cNvSpPr txBox="1"/>
          <p:nvPr/>
        </p:nvSpPr>
        <p:spPr>
          <a:xfrm>
            <a:off x="822960" y="3429000"/>
            <a:ext cx="3291840" cy="365760"/>
          </a:xfrm>
          <a:prstGeom prst="rect">
            <a:avLst/>
          </a:prstGeom>
          <a:noFill/>
        </p:spPr>
        <p:txBody>
          <a:bodyPr wrap="none">
            <a:spAutoFit/>
          </a:bodyPr>
          <a:lstStyle/>
          <a:p>
            <a:pPr algn="ctr">
              <a:defRPr sz="1100" b="1">
                <a:solidFill>
                  <a:srgbClr val="0F172A"/>
                </a:solidFill>
              </a:defRPr>
            </a:pPr>
            <a:r>
              <a:t>Storefront Home Page</a:t>
            </a:r>
          </a:p>
        </p:txBody>
      </p:sp>
      <p:sp>
        <p:nvSpPr>
          <p:cNvPr id="8" name="Rounded Rectangle 7"/>
          <p:cNvSpPr/>
          <p:nvPr/>
        </p:nvSpPr>
        <p:spPr>
          <a:xfrm>
            <a:off x="4343400" y="1645920"/>
            <a:ext cx="347472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2_products.png"/>
          <p:cNvPicPr>
            <a:picLocks noChangeAspect="1"/>
          </p:cNvPicPr>
          <p:nvPr/>
        </p:nvPicPr>
        <p:blipFill>
          <a:blip r:embed="rId3"/>
          <a:stretch>
            <a:fillRect/>
          </a:stretch>
        </p:blipFill>
        <p:spPr>
          <a:xfrm>
            <a:off x="4434840" y="1737360"/>
            <a:ext cx="3291840" cy="1691640"/>
          </a:xfrm>
          <a:prstGeom prst="rect">
            <a:avLst/>
          </a:prstGeom>
        </p:spPr>
      </p:pic>
      <p:sp>
        <p:nvSpPr>
          <p:cNvPr id="10" name="TextBox 9"/>
          <p:cNvSpPr txBox="1"/>
          <p:nvPr/>
        </p:nvSpPr>
        <p:spPr>
          <a:xfrm>
            <a:off x="4434840" y="3429000"/>
            <a:ext cx="3291840" cy="365760"/>
          </a:xfrm>
          <a:prstGeom prst="rect">
            <a:avLst/>
          </a:prstGeom>
          <a:noFill/>
        </p:spPr>
        <p:txBody>
          <a:bodyPr wrap="none">
            <a:spAutoFit/>
          </a:bodyPr>
          <a:lstStyle/>
          <a:p>
            <a:pPr algn="ctr">
              <a:defRPr sz="1100" b="1">
                <a:solidFill>
                  <a:srgbClr val="0F172A"/>
                </a:solidFill>
              </a:defRPr>
            </a:pPr>
            <a:r>
              <a:t>Catalog &amp; Search</a:t>
            </a:r>
          </a:p>
        </p:txBody>
      </p:sp>
      <p:sp>
        <p:nvSpPr>
          <p:cNvPr id="11" name="Rounded Rectangle 10"/>
          <p:cNvSpPr/>
          <p:nvPr/>
        </p:nvSpPr>
        <p:spPr>
          <a:xfrm>
            <a:off x="7955279" y="1645920"/>
            <a:ext cx="347472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3_cart.png"/>
          <p:cNvPicPr>
            <a:picLocks noChangeAspect="1"/>
          </p:cNvPicPr>
          <p:nvPr/>
        </p:nvPicPr>
        <p:blipFill>
          <a:blip r:embed="rId4"/>
          <a:stretch>
            <a:fillRect/>
          </a:stretch>
        </p:blipFill>
        <p:spPr>
          <a:xfrm>
            <a:off x="8046719" y="1737360"/>
            <a:ext cx="3291840" cy="1691640"/>
          </a:xfrm>
          <a:prstGeom prst="rect">
            <a:avLst/>
          </a:prstGeom>
        </p:spPr>
      </p:pic>
      <p:sp>
        <p:nvSpPr>
          <p:cNvPr id="13" name="TextBox 12"/>
          <p:cNvSpPr txBox="1"/>
          <p:nvPr/>
        </p:nvSpPr>
        <p:spPr>
          <a:xfrm>
            <a:off x="8046719" y="3429000"/>
            <a:ext cx="3291840" cy="365760"/>
          </a:xfrm>
          <a:prstGeom prst="rect">
            <a:avLst/>
          </a:prstGeom>
          <a:noFill/>
        </p:spPr>
        <p:txBody>
          <a:bodyPr wrap="none">
            <a:spAutoFit/>
          </a:bodyPr>
          <a:lstStyle/>
          <a:p>
            <a:pPr algn="ctr">
              <a:defRPr sz="1100" b="1">
                <a:solidFill>
                  <a:srgbClr val="0F172A"/>
                </a:solidFill>
              </a:defRPr>
            </a:pPr>
            <a:r>
              <a:t>Shopping Cart</a:t>
            </a:r>
          </a:p>
        </p:txBody>
      </p:sp>
      <p:sp>
        <p:nvSpPr>
          <p:cNvPr id="14" name="Rounded Rectangle 13"/>
          <p:cNvSpPr/>
          <p:nvPr/>
        </p:nvSpPr>
        <p:spPr>
          <a:xfrm>
            <a:off x="731520" y="3931920"/>
            <a:ext cx="347472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04_checkout.png"/>
          <p:cNvPicPr>
            <a:picLocks noChangeAspect="1"/>
          </p:cNvPicPr>
          <p:nvPr/>
        </p:nvPicPr>
        <p:blipFill>
          <a:blip r:embed="rId5"/>
          <a:stretch>
            <a:fillRect/>
          </a:stretch>
        </p:blipFill>
        <p:spPr>
          <a:xfrm>
            <a:off x="822960" y="4023360"/>
            <a:ext cx="3291840" cy="1691640"/>
          </a:xfrm>
          <a:prstGeom prst="rect">
            <a:avLst/>
          </a:prstGeom>
        </p:spPr>
      </p:pic>
      <p:sp>
        <p:nvSpPr>
          <p:cNvPr id="16" name="TextBox 15"/>
          <p:cNvSpPr txBox="1"/>
          <p:nvPr/>
        </p:nvSpPr>
        <p:spPr>
          <a:xfrm>
            <a:off x="822960" y="5715000"/>
            <a:ext cx="3291840" cy="365760"/>
          </a:xfrm>
          <a:prstGeom prst="rect">
            <a:avLst/>
          </a:prstGeom>
          <a:noFill/>
        </p:spPr>
        <p:txBody>
          <a:bodyPr wrap="none">
            <a:spAutoFit/>
          </a:bodyPr>
          <a:lstStyle/>
          <a:p>
            <a:pPr algn="ctr">
              <a:defRPr sz="1100" b="1">
                <a:solidFill>
                  <a:srgbClr val="0F172A"/>
                </a:solidFill>
              </a:defRPr>
            </a:pPr>
            <a:r>
              <a:t>Multi-Step Checkout</a:t>
            </a:r>
          </a:p>
        </p:txBody>
      </p:sp>
      <p:sp>
        <p:nvSpPr>
          <p:cNvPr id="17" name="Rounded Rectangle 16"/>
          <p:cNvSpPr/>
          <p:nvPr/>
        </p:nvSpPr>
        <p:spPr>
          <a:xfrm>
            <a:off x="4343400" y="3931920"/>
            <a:ext cx="347472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7_product_detail.png"/>
          <p:cNvPicPr>
            <a:picLocks noChangeAspect="1"/>
          </p:cNvPicPr>
          <p:nvPr/>
        </p:nvPicPr>
        <p:blipFill>
          <a:blip r:embed="rId6"/>
          <a:stretch>
            <a:fillRect/>
          </a:stretch>
        </p:blipFill>
        <p:spPr>
          <a:xfrm>
            <a:off x="4434840" y="4023360"/>
            <a:ext cx="3291840" cy="1691640"/>
          </a:xfrm>
          <a:prstGeom prst="rect">
            <a:avLst/>
          </a:prstGeom>
        </p:spPr>
      </p:pic>
      <p:sp>
        <p:nvSpPr>
          <p:cNvPr id="19" name="TextBox 18"/>
          <p:cNvSpPr txBox="1"/>
          <p:nvPr/>
        </p:nvSpPr>
        <p:spPr>
          <a:xfrm>
            <a:off x="4434840" y="5715000"/>
            <a:ext cx="3291840" cy="365760"/>
          </a:xfrm>
          <a:prstGeom prst="rect">
            <a:avLst/>
          </a:prstGeom>
          <a:noFill/>
        </p:spPr>
        <p:txBody>
          <a:bodyPr wrap="none">
            <a:spAutoFit/>
          </a:bodyPr>
          <a:lstStyle/>
          <a:p>
            <a:pPr algn="ctr">
              <a:defRPr sz="1100" b="1">
                <a:solidFill>
                  <a:srgbClr val="0F172A"/>
                </a:solidFill>
              </a:defRPr>
            </a:pPr>
            <a:r>
              <a:t>Product Details</a:t>
            </a:r>
          </a:p>
        </p:txBody>
      </p:sp>
      <p:sp>
        <p:nvSpPr>
          <p:cNvPr id="20" name="Rounded Rectangle 19"/>
          <p:cNvSpPr/>
          <p:nvPr/>
        </p:nvSpPr>
        <p:spPr>
          <a:xfrm>
            <a:off x="7955279" y="3931920"/>
            <a:ext cx="347472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06_admin_login.png"/>
          <p:cNvPicPr>
            <a:picLocks noChangeAspect="1"/>
          </p:cNvPicPr>
          <p:nvPr/>
        </p:nvPicPr>
        <p:blipFill>
          <a:blip r:embed="rId7"/>
          <a:stretch>
            <a:fillRect/>
          </a:stretch>
        </p:blipFill>
        <p:spPr>
          <a:xfrm>
            <a:off x="8046719" y="4023360"/>
            <a:ext cx="3291840" cy="1691640"/>
          </a:xfrm>
          <a:prstGeom prst="rect">
            <a:avLst/>
          </a:prstGeom>
        </p:spPr>
      </p:pic>
      <p:sp>
        <p:nvSpPr>
          <p:cNvPr id="22" name="TextBox 21"/>
          <p:cNvSpPr txBox="1"/>
          <p:nvPr/>
        </p:nvSpPr>
        <p:spPr>
          <a:xfrm>
            <a:off x="8046719" y="5715000"/>
            <a:ext cx="3291840" cy="365760"/>
          </a:xfrm>
          <a:prstGeom prst="rect">
            <a:avLst/>
          </a:prstGeom>
          <a:noFill/>
        </p:spPr>
        <p:txBody>
          <a:bodyPr wrap="none">
            <a:spAutoFit/>
          </a:bodyPr>
          <a:lstStyle/>
          <a:p>
            <a:pPr algn="ctr">
              <a:defRPr sz="1100" b="1">
                <a:solidFill>
                  <a:srgbClr val="0F172A"/>
                </a:solidFill>
              </a:defRPr>
            </a:pPr>
            <a:r>
              <a:t>Admin Portal Login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Segoe UI"/>
              </a:defRPr>
            </a:pPr>
            <a:r>
              <a:t>14. QUALITY ASSURANCE</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400" b="1">
                <a:solidFill>
                  <a:srgbClr val="0F172A"/>
                </a:solidFill>
                <a:latin typeface="Segoe UI"/>
              </a:defRPr>
            </a:pPr>
            <a:r>
              <a:t>Testing and Results — Verification &amp; Honest Review</a:t>
            </a:r>
          </a:p>
        </p:txBody>
      </p:sp>
      <p:sp>
        <p:nvSpPr>
          <p:cNvPr id="4" name="Rectangle 3"/>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0" y="1828800"/>
            <a:ext cx="1645920" cy="4114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PASSED</a:t>
            </a:r>
          </a:p>
        </p:txBody>
      </p:sp>
      <p:sp>
        <p:nvSpPr>
          <p:cNvPr id="7" name="TextBox 6"/>
          <p:cNvSpPr txBox="1"/>
          <p:nvPr/>
        </p:nvSpPr>
        <p:spPr>
          <a:xfrm>
            <a:off x="1005840" y="1737360"/>
            <a:ext cx="8412480" cy="594360"/>
          </a:xfrm>
          <a:prstGeom prst="rect">
            <a:avLst/>
          </a:prstGeom>
          <a:noFill/>
        </p:spPr>
        <p:txBody>
          <a:bodyPr wrap="square">
            <a:spAutoFit/>
          </a:bodyPr>
          <a:lstStyle/>
          <a:p>
            <a:pPr>
              <a:defRPr sz="1300" b="1">
                <a:solidFill>
                  <a:srgbClr val="0F172A"/>
                </a:solidFill>
              </a:defRPr>
            </a:pPr>
            <a:r>
              <a:t>Authentication &amp; Session Verification</a:t>
            </a:r>
          </a:p>
          <a:p>
            <a:pPr>
              <a:defRPr sz="1100">
                <a:solidFill>
                  <a:srgbClr val="475569"/>
                </a:solidFill>
              </a:defRPr>
            </a:pPr>
            <a:r>
              <a:t>Tested user signup, password hashing with bcrypt, JWT generation, and HTTP-Only cookie storage. Verified that invalid passwords or duplicate emails reject cleanly.</a:t>
            </a:r>
          </a:p>
        </p:txBody>
      </p:sp>
      <p:sp>
        <p:nvSpPr>
          <p:cNvPr id="8" name="Rounded Rectangle 7"/>
          <p:cNvSpPr/>
          <p:nvPr/>
        </p:nvSpPr>
        <p:spPr>
          <a:xfrm>
            <a:off x="731520" y="2514600"/>
            <a:ext cx="107286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0" y="2697480"/>
            <a:ext cx="1645920" cy="4114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PASSED</a:t>
            </a:r>
          </a:p>
        </p:txBody>
      </p:sp>
      <p:sp>
        <p:nvSpPr>
          <p:cNvPr id="10" name="TextBox 9"/>
          <p:cNvSpPr txBox="1"/>
          <p:nvPr/>
        </p:nvSpPr>
        <p:spPr>
          <a:xfrm>
            <a:off x="1005840" y="2606040"/>
            <a:ext cx="8412480" cy="594360"/>
          </a:xfrm>
          <a:prstGeom prst="rect">
            <a:avLst/>
          </a:prstGeom>
          <a:noFill/>
        </p:spPr>
        <p:txBody>
          <a:bodyPr wrap="square">
            <a:spAutoFit/>
          </a:bodyPr>
          <a:lstStyle/>
          <a:p>
            <a:pPr>
              <a:defRPr sz="1300" b="1">
                <a:solidFill>
                  <a:srgbClr val="0F172A"/>
                </a:solidFill>
              </a:defRPr>
            </a:pPr>
            <a:r>
              <a:t>Stock Validation &amp; Concurrency Limits</a:t>
            </a:r>
          </a:p>
          <a:p>
            <a:pPr>
              <a:defRPr sz="1100">
                <a:solidFill>
                  <a:srgbClr val="475569"/>
                </a:solidFill>
              </a:defRPr>
            </a:pPr>
            <a:r>
              <a:t>Tested adding quantities beyond warehouse stock. The API returns HTTP 400 with an exact error message preventing over-ordering.</a:t>
            </a:r>
          </a:p>
        </p:txBody>
      </p:sp>
      <p:sp>
        <p:nvSpPr>
          <p:cNvPr id="11" name="Rounded Rectangle 10"/>
          <p:cNvSpPr/>
          <p:nvPr/>
        </p:nvSpPr>
        <p:spPr>
          <a:xfrm>
            <a:off x="731520" y="3383280"/>
            <a:ext cx="107286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01200" y="3566160"/>
            <a:ext cx="1645920" cy="4114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PASSED</a:t>
            </a:r>
          </a:p>
        </p:txBody>
      </p:sp>
      <p:sp>
        <p:nvSpPr>
          <p:cNvPr id="13" name="TextBox 12"/>
          <p:cNvSpPr txBox="1"/>
          <p:nvPr/>
        </p:nvSpPr>
        <p:spPr>
          <a:xfrm>
            <a:off x="1005840" y="3474720"/>
            <a:ext cx="8412480" cy="594360"/>
          </a:xfrm>
          <a:prstGeom prst="rect">
            <a:avLst/>
          </a:prstGeom>
          <a:noFill/>
        </p:spPr>
        <p:txBody>
          <a:bodyPr wrap="square">
            <a:spAutoFit/>
          </a:bodyPr>
          <a:lstStyle/>
          <a:p>
            <a:pPr>
              <a:defRPr sz="1300" b="1">
                <a:solidFill>
                  <a:srgbClr val="0F172A"/>
                </a:solidFill>
              </a:defRPr>
            </a:pPr>
            <a:r>
              <a:t>Atomic Order Checkout &amp; Decrement</a:t>
            </a:r>
          </a:p>
          <a:p>
            <a:pPr>
              <a:defRPr sz="1100">
                <a:solidFill>
                  <a:srgbClr val="475569"/>
                </a:solidFill>
              </a:defRPr>
            </a:pPr>
            <a:r>
              <a:t>Placed multi-item orders and confirmed that Order, OrderItem, stock decrement, and cart deletion complete atomically in a single transaction.</a:t>
            </a:r>
          </a:p>
        </p:txBody>
      </p:sp>
      <p:sp>
        <p:nvSpPr>
          <p:cNvPr id="14" name="Rounded Rectangle 13"/>
          <p:cNvSpPr/>
          <p:nvPr/>
        </p:nvSpPr>
        <p:spPr>
          <a:xfrm>
            <a:off x="731520" y="4251959"/>
            <a:ext cx="107286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01200" y="4434839"/>
            <a:ext cx="1645920" cy="4114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PASSED</a:t>
            </a:r>
          </a:p>
        </p:txBody>
      </p:sp>
      <p:sp>
        <p:nvSpPr>
          <p:cNvPr id="16" name="TextBox 15"/>
          <p:cNvSpPr txBox="1"/>
          <p:nvPr/>
        </p:nvSpPr>
        <p:spPr>
          <a:xfrm>
            <a:off x="1005840" y="4343399"/>
            <a:ext cx="8412480" cy="594360"/>
          </a:xfrm>
          <a:prstGeom prst="rect">
            <a:avLst/>
          </a:prstGeom>
          <a:noFill/>
        </p:spPr>
        <p:txBody>
          <a:bodyPr wrap="square">
            <a:spAutoFit/>
          </a:bodyPr>
          <a:lstStyle/>
          <a:p>
            <a:pPr>
              <a:defRPr sz="1300" b="1">
                <a:solidFill>
                  <a:srgbClr val="0F172A"/>
                </a:solidFill>
              </a:defRPr>
            </a:pPr>
            <a:r>
              <a:t>Order Cancellation Stock Restoration</a:t>
            </a:r>
          </a:p>
          <a:p>
            <a:pPr>
              <a:defRPr sz="1100">
                <a:solidFill>
                  <a:srgbClr val="475569"/>
                </a:solidFill>
              </a:defRPr>
            </a:pPr>
            <a:r>
              <a:t>Cancelled an eligible pending order and verified that the items are incremented back into product stock counts immediately.</a:t>
            </a:r>
          </a:p>
        </p:txBody>
      </p:sp>
      <p:sp>
        <p:nvSpPr>
          <p:cNvPr id="17" name="Rounded Rectangle 16"/>
          <p:cNvSpPr/>
          <p:nvPr/>
        </p:nvSpPr>
        <p:spPr>
          <a:xfrm>
            <a:off x="731520" y="5120640"/>
            <a:ext cx="107286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01200" y="5303520"/>
            <a:ext cx="1645920" cy="4114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DEMO SIMULATION</a:t>
            </a:r>
          </a:p>
        </p:txBody>
      </p:sp>
      <p:sp>
        <p:nvSpPr>
          <p:cNvPr id="19" name="TextBox 18"/>
          <p:cNvSpPr txBox="1"/>
          <p:nvPr/>
        </p:nvSpPr>
        <p:spPr>
          <a:xfrm>
            <a:off x="1005840" y="5212080"/>
            <a:ext cx="8412480" cy="594360"/>
          </a:xfrm>
          <a:prstGeom prst="rect">
            <a:avLst/>
          </a:prstGeom>
          <a:noFill/>
        </p:spPr>
        <p:txBody>
          <a:bodyPr wrap="square">
            <a:spAutoFit/>
          </a:bodyPr>
          <a:lstStyle/>
          <a:p>
            <a:pPr>
              <a:defRPr sz="1300" b="1">
                <a:solidFill>
                  <a:srgbClr val="0F172A"/>
                </a:solidFill>
              </a:defRPr>
            </a:pPr>
            <a:r>
              <a:t>Payment Processing Implementation</a:t>
            </a:r>
          </a:p>
          <a:p>
            <a:pPr>
              <a:defRPr sz="1100">
                <a:solidFill>
                  <a:srgbClr val="475569"/>
                </a:solidFill>
              </a:defRPr>
            </a:pPr>
            <a:r>
              <a:t>Cash on Delivery and dynamic UPI QR simulation function properly. Production payment gateway (Razorpay/Stripe) is planned for future release.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Segoe UI"/>
              </a:defRPr>
            </a:pPr>
            <a:r>
              <a:t>15. PROJECT WRAP-UP</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400" b="1">
                <a:solidFill>
                  <a:srgbClr val="0F172A"/>
                </a:solidFill>
                <a:latin typeface="Segoe UI"/>
              </a:defRPr>
            </a:pPr>
            <a:r>
              <a:t>Conclusion — Key Achievements &amp; Takeaways</a:t>
            </a:r>
          </a:p>
        </p:txBody>
      </p:sp>
      <p:sp>
        <p:nvSpPr>
          <p:cNvPr id="4" name="Rectangle 3"/>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709160" cy="1691640"/>
          </a:xfrm>
          <a:prstGeom prst="rect">
            <a:avLst/>
          </a:prstGeom>
          <a:noFill/>
        </p:spPr>
        <p:txBody>
          <a:bodyPr wrap="square">
            <a:spAutoFit/>
          </a:bodyPr>
          <a:lstStyle/>
          <a:p>
            <a:pPr>
              <a:defRPr sz="1600" b="1">
                <a:solidFill>
                  <a:srgbClr val="2563EB"/>
                </a:solidFill>
              </a:defRPr>
            </a:pPr>
            <a:r>
              <a:t>★ Full-Stack Architectural Mastery</a:t>
            </a:r>
          </a:p>
          <a:p>
            <a:pPr>
              <a:spcBef>
                <a:spcPts val="600"/>
              </a:spcBef>
              <a:defRPr sz="1200">
                <a:solidFill>
                  <a:srgbClr val="475569"/>
                </a:solidFill>
              </a:defRPr>
            </a:pPr>
            <a:r>
              <a:t>Successfully built a complete, high-performance web platform utilizing Next.js 14 App Router, TypeScript, Tailwind CSS, and Prisma ORM.</a:t>
            </a:r>
          </a:p>
        </p:txBody>
      </p:sp>
      <p:sp>
        <p:nvSpPr>
          <p:cNvPr id="7" name="Rounded Rectangle 6"/>
          <p:cNvSpPr/>
          <p:nvPr/>
        </p:nvSpPr>
        <p:spPr>
          <a:xfrm>
            <a:off x="6172200" y="164592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09160" cy="1691640"/>
          </a:xfrm>
          <a:prstGeom prst="rect">
            <a:avLst/>
          </a:prstGeom>
          <a:noFill/>
        </p:spPr>
        <p:txBody>
          <a:bodyPr wrap="square">
            <a:spAutoFit/>
          </a:bodyPr>
          <a:lstStyle/>
          <a:p>
            <a:pPr>
              <a:defRPr sz="1600" b="1">
                <a:solidFill>
                  <a:srgbClr val="2563EB"/>
                </a:solidFill>
              </a:defRPr>
            </a:pPr>
            <a:r>
              <a:t>★ Deterministic Inventory Integrity</a:t>
            </a:r>
          </a:p>
          <a:p>
            <a:pPr>
              <a:spcBef>
                <a:spcPts val="600"/>
              </a:spcBef>
              <a:defRPr sz="1200">
                <a:solidFill>
                  <a:srgbClr val="475569"/>
                </a:solidFill>
              </a:defRPr>
            </a:pPr>
            <a:r>
              <a:t>Eliminated stock overselling and concurrency bugs through transactional database isolation (prisma.$transaction).</a:t>
            </a:r>
          </a:p>
        </p:txBody>
      </p:sp>
      <p:sp>
        <p:nvSpPr>
          <p:cNvPr id="9" name="Rounded Rectangle 8"/>
          <p:cNvSpPr/>
          <p:nvPr/>
        </p:nvSpPr>
        <p:spPr>
          <a:xfrm>
            <a:off x="731520" y="388620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69080"/>
            <a:ext cx="4709160" cy="1691640"/>
          </a:xfrm>
          <a:prstGeom prst="rect">
            <a:avLst/>
          </a:prstGeom>
          <a:noFill/>
        </p:spPr>
        <p:txBody>
          <a:bodyPr wrap="square">
            <a:spAutoFit/>
          </a:bodyPr>
          <a:lstStyle/>
          <a:p>
            <a:pPr>
              <a:defRPr sz="1600" b="1">
                <a:solidFill>
                  <a:srgbClr val="2563EB"/>
                </a:solidFill>
              </a:defRPr>
            </a:pPr>
            <a:r>
              <a:t>★ Enterprise-Grade Session Security</a:t>
            </a:r>
          </a:p>
          <a:p>
            <a:pPr>
              <a:spcBef>
                <a:spcPts val="600"/>
              </a:spcBef>
              <a:defRPr sz="1200">
                <a:solidFill>
                  <a:srgbClr val="475569"/>
                </a:solidFill>
              </a:defRPr>
            </a:pPr>
            <a:r>
              <a:t>Safeguarded customer sessions through HTTP-Only cryptographically signed JWT cookies and salted bcrypt password hashing.</a:t>
            </a:r>
          </a:p>
        </p:txBody>
      </p:sp>
      <p:sp>
        <p:nvSpPr>
          <p:cNvPr id="11" name="Rounded Rectangle 10"/>
          <p:cNvSpPr/>
          <p:nvPr/>
        </p:nvSpPr>
        <p:spPr>
          <a:xfrm>
            <a:off x="6172200" y="388620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069080"/>
            <a:ext cx="4709160" cy="1691640"/>
          </a:xfrm>
          <a:prstGeom prst="rect">
            <a:avLst/>
          </a:prstGeom>
          <a:noFill/>
        </p:spPr>
        <p:txBody>
          <a:bodyPr wrap="square">
            <a:spAutoFit/>
          </a:bodyPr>
          <a:lstStyle/>
          <a:p>
            <a:pPr>
              <a:defRPr sz="1600" b="1">
                <a:solidFill>
                  <a:srgbClr val="2563EB"/>
                </a:solidFill>
              </a:defRPr>
            </a:pPr>
            <a:r>
              <a:t>★ Comprehensive Dual-Surface Platform</a:t>
            </a:r>
          </a:p>
          <a:p>
            <a:pPr>
              <a:spcBef>
                <a:spcPts val="600"/>
              </a:spcBef>
              <a:defRPr sz="1200">
                <a:solidFill>
                  <a:srgbClr val="475569"/>
                </a:solidFill>
              </a:defRPr>
            </a:pPr>
            <a:r>
              <a:t>Delivered both an intuitive customer storefront and a feature-complete administrative management console.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Segoe UI"/>
              </a:defRPr>
            </a:pPr>
            <a:r>
              <a:t>16. FUTURE SCOPE &amp; EXPANSION</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400" b="1">
                <a:solidFill>
                  <a:srgbClr val="0F172A"/>
                </a:solidFill>
                <a:latin typeface="Segoe UI"/>
              </a:defRPr>
            </a:pPr>
            <a:r>
              <a:t>Future Enhancements — Technical Roadmap</a:t>
            </a:r>
          </a:p>
        </p:txBody>
      </p:sp>
      <p:sp>
        <p:nvSpPr>
          <p:cNvPr id="4" name="Rectangle 3"/>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92640" y="1828800"/>
            <a:ext cx="155448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PLANNED</a:t>
            </a:r>
          </a:p>
        </p:txBody>
      </p:sp>
      <p:sp>
        <p:nvSpPr>
          <p:cNvPr id="7" name="TextBox 6"/>
          <p:cNvSpPr txBox="1"/>
          <p:nvPr/>
        </p:nvSpPr>
        <p:spPr>
          <a:xfrm>
            <a:off x="1005840" y="1737360"/>
            <a:ext cx="8503920" cy="594360"/>
          </a:xfrm>
          <a:prstGeom prst="rect">
            <a:avLst/>
          </a:prstGeom>
          <a:noFill/>
        </p:spPr>
        <p:txBody>
          <a:bodyPr wrap="square">
            <a:spAutoFit/>
          </a:bodyPr>
          <a:lstStyle/>
          <a:p>
            <a:pPr>
              <a:defRPr sz="1300" b="1">
                <a:solidFill>
                  <a:srgbClr val="0F172A"/>
                </a:solidFill>
              </a:defRPr>
            </a:pPr>
            <a:r>
              <a:t>1. Live Production Payment Gateway</a:t>
            </a:r>
          </a:p>
          <a:p>
            <a:pPr>
              <a:defRPr sz="1100">
                <a:solidFill>
                  <a:srgbClr val="475569"/>
                </a:solidFill>
              </a:defRPr>
            </a:pPr>
            <a:r>
              <a:t>Integrate Razorpay or Stripe webhooks with automated cryptographic HMAC-SHA256 signature verification for instant debit/credit card and NetBanking settlements.</a:t>
            </a:r>
          </a:p>
        </p:txBody>
      </p:sp>
      <p:sp>
        <p:nvSpPr>
          <p:cNvPr id="8" name="Rounded Rectangle 7"/>
          <p:cNvSpPr/>
          <p:nvPr/>
        </p:nvSpPr>
        <p:spPr>
          <a:xfrm>
            <a:off x="731520" y="2514600"/>
            <a:ext cx="107286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92640" y="2697480"/>
            <a:ext cx="155448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PLANNED</a:t>
            </a:r>
          </a:p>
        </p:txBody>
      </p:sp>
      <p:sp>
        <p:nvSpPr>
          <p:cNvPr id="10" name="TextBox 9"/>
          <p:cNvSpPr txBox="1"/>
          <p:nvPr/>
        </p:nvSpPr>
        <p:spPr>
          <a:xfrm>
            <a:off x="1005840" y="2606040"/>
            <a:ext cx="8503920" cy="594360"/>
          </a:xfrm>
          <a:prstGeom prst="rect">
            <a:avLst/>
          </a:prstGeom>
          <a:noFill/>
        </p:spPr>
        <p:txBody>
          <a:bodyPr wrap="square">
            <a:spAutoFit/>
          </a:bodyPr>
          <a:lstStyle/>
          <a:p>
            <a:pPr>
              <a:defRPr sz="1300" b="1">
                <a:solidFill>
                  <a:srgbClr val="0F172A"/>
                </a:solidFill>
              </a:defRPr>
            </a:pPr>
            <a:r>
              <a:t>2. Real-Time GPS Order Tracking</a:t>
            </a:r>
          </a:p>
          <a:p>
            <a:pPr>
              <a:defRPr sz="1100">
                <a:solidFill>
                  <a:srgbClr val="475569"/>
                </a:solidFill>
              </a:defRPr>
            </a:pPr>
            <a:r>
              <a:t>Implement Mapbox and WebSocket (Socket.io) telemetry so customers can track delivery riders in real-time on a live interactive map.</a:t>
            </a:r>
          </a:p>
        </p:txBody>
      </p:sp>
      <p:sp>
        <p:nvSpPr>
          <p:cNvPr id="11" name="Rounded Rectangle 10"/>
          <p:cNvSpPr/>
          <p:nvPr/>
        </p:nvSpPr>
        <p:spPr>
          <a:xfrm>
            <a:off x="731520" y="3383280"/>
            <a:ext cx="107286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92640" y="3566160"/>
            <a:ext cx="155448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PLANNED</a:t>
            </a:r>
          </a:p>
        </p:txBody>
      </p:sp>
      <p:sp>
        <p:nvSpPr>
          <p:cNvPr id="13" name="TextBox 12"/>
          <p:cNvSpPr txBox="1"/>
          <p:nvPr/>
        </p:nvSpPr>
        <p:spPr>
          <a:xfrm>
            <a:off x="1005840" y="3474720"/>
            <a:ext cx="8503920" cy="594360"/>
          </a:xfrm>
          <a:prstGeom prst="rect">
            <a:avLst/>
          </a:prstGeom>
          <a:noFill/>
        </p:spPr>
        <p:txBody>
          <a:bodyPr wrap="square">
            <a:spAutoFit/>
          </a:bodyPr>
          <a:lstStyle/>
          <a:p>
            <a:pPr>
              <a:defRPr sz="1300" b="1">
                <a:solidFill>
                  <a:srgbClr val="0F172A"/>
                </a:solidFill>
              </a:defRPr>
            </a:pPr>
            <a:r>
              <a:t>3. AI Recommendation Engine</a:t>
            </a:r>
          </a:p>
          <a:p>
            <a:pPr>
              <a:defRPr sz="1100">
                <a:solidFill>
                  <a:srgbClr val="475569"/>
                </a:solidFill>
              </a:defRPr>
            </a:pPr>
            <a:r>
              <a:t>Incorporate collaborative filtering and cosine similarity models to generate personalized 'Frequently Bought Together' recommendations.</a:t>
            </a:r>
          </a:p>
        </p:txBody>
      </p:sp>
      <p:sp>
        <p:nvSpPr>
          <p:cNvPr id="14" name="Rounded Rectangle 13"/>
          <p:cNvSpPr/>
          <p:nvPr/>
        </p:nvSpPr>
        <p:spPr>
          <a:xfrm>
            <a:off x="731520" y="4251959"/>
            <a:ext cx="107286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92640" y="4434839"/>
            <a:ext cx="155448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PLANNED</a:t>
            </a:r>
          </a:p>
        </p:txBody>
      </p:sp>
      <p:sp>
        <p:nvSpPr>
          <p:cNvPr id="16" name="TextBox 15"/>
          <p:cNvSpPr txBox="1"/>
          <p:nvPr/>
        </p:nvSpPr>
        <p:spPr>
          <a:xfrm>
            <a:off x="1005840" y="4343399"/>
            <a:ext cx="8503920" cy="594360"/>
          </a:xfrm>
          <a:prstGeom prst="rect">
            <a:avLst/>
          </a:prstGeom>
          <a:noFill/>
        </p:spPr>
        <p:txBody>
          <a:bodyPr wrap="square">
            <a:spAutoFit/>
          </a:bodyPr>
          <a:lstStyle/>
          <a:p>
            <a:pPr>
              <a:defRPr sz="1300" b="1">
                <a:solidFill>
                  <a:srgbClr val="0F172A"/>
                </a:solidFill>
              </a:defRPr>
            </a:pPr>
            <a:r>
              <a:t>4. Omnichannel Notification Pipeline</a:t>
            </a:r>
          </a:p>
          <a:p>
            <a:pPr>
              <a:defRPr sz="1100">
                <a:solidFill>
                  <a:srgbClr val="475569"/>
                </a:solidFill>
              </a:defRPr>
            </a:pPr>
            <a:r>
              <a:t>Integrate Twilio SMS, WhatsApp Business API, and SendGrid to send automatic dispatch and delivery alerts directly to customers' phones.</a:t>
            </a:r>
          </a:p>
        </p:txBody>
      </p:sp>
      <p:sp>
        <p:nvSpPr>
          <p:cNvPr id="17" name="Rounded Rectangle 16"/>
          <p:cNvSpPr/>
          <p:nvPr/>
        </p:nvSpPr>
        <p:spPr>
          <a:xfrm>
            <a:off x="731520" y="5120640"/>
            <a:ext cx="10728655"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92640" y="5303520"/>
            <a:ext cx="155448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PLANNED</a:t>
            </a:r>
          </a:p>
        </p:txBody>
      </p:sp>
      <p:sp>
        <p:nvSpPr>
          <p:cNvPr id="19" name="TextBox 18"/>
          <p:cNvSpPr txBox="1"/>
          <p:nvPr/>
        </p:nvSpPr>
        <p:spPr>
          <a:xfrm>
            <a:off x="1005840" y="5212080"/>
            <a:ext cx="8503920" cy="594360"/>
          </a:xfrm>
          <a:prstGeom prst="rect">
            <a:avLst/>
          </a:prstGeom>
          <a:noFill/>
        </p:spPr>
        <p:txBody>
          <a:bodyPr wrap="square">
            <a:spAutoFit/>
          </a:bodyPr>
          <a:lstStyle/>
          <a:p>
            <a:pPr>
              <a:defRPr sz="1300" b="1">
                <a:solidFill>
                  <a:srgbClr val="0F172A"/>
                </a:solidFill>
              </a:defRPr>
            </a:pPr>
            <a:r>
              <a:t>5. Mobile App (React Native) &amp; PWA</a:t>
            </a:r>
          </a:p>
          <a:p>
            <a:pPr>
              <a:defRPr sz="1100">
                <a:solidFill>
                  <a:srgbClr val="475569"/>
                </a:solidFill>
              </a:defRPr>
            </a:pPr>
            <a:r>
              <a:t>Expand platform into an offline-capable Progressive Web App (PWA) and cross-platform native iOS/Android mobile apps sharing our backend APIs.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1645920"/>
            <a:ext cx="10332720" cy="1280160"/>
          </a:xfrm>
          <a:prstGeom prst="rect">
            <a:avLst/>
          </a:prstGeom>
          <a:noFill/>
        </p:spPr>
        <p:txBody>
          <a:bodyPr wrap="square">
            <a:spAutoFit/>
          </a:bodyPr>
          <a:lstStyle/>
          <a:p>
            <a:pPr algn="ctr">
              <a:defRPr sz="5600" b="1">
                <a:solidFill>
                  <a:srgbClr val="FFFFFF"/>
                </a:solidFill>
              </a:defRPr>
            </a:pPr>
            <a:r>
              <a:t>Thank You!</a:t>
            </a:r>
          </a:p>
        </p:txBody>
      </p:sp>
      <p:sp>
        <p:nvSpPr>
          <p:cNvPr id="3" name="TextBox 2"/>
          <p:cNvSpPr txBox="1"/>
          <p:nvPr/>
        </p:nvSpPr>
        <p:spPr>
          <a:xfrm>
            <a:off x="914400" y="2926080"/>
            <a:ext cx="10332720" cy="731520"/>
          </a:xfrm>
          <a:prstGeom prst="rect">
            <a:avLst/>
          </a:prstGeom>
          <a:noFill/>
        </p:spPr>
        <p:txBody>
          <a:bodyPr wrap="none">
            <a:spAutoFit/>
          </a:bodyPr>
          <a:lstStyle/>
          <a:p>
            <a:pPr algn="ctr">
              <a:defRPr sz="2600" b="1">
                <a:solidFill>
                  <a:srgbClr val="0D9488"/>
                </a:solidFill>
              </a:defRPr>
            </a:pPr>
            <a:r>
              <a:t>Questions &amp; Answers (Viva Voce)</a:t>
            </a:r>
          </a:p>
        </p:txBody>
      </p:sp>
      <p:sp>
        <p:nvSpPr>
          <p:cNvPr id="4" name="Rounded Rectangle 3"/>
          <p:cNvSpPr/>
          <p:nvPr/>
        </p:nvSpPr>
        <p:spPr>
          <a:xfrm>
            <a:off x="3291840" y="3931920"/>
            <a:ext cx="5577840"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0" y="4114800"/>
            <a:ext cx="5212080" cy="1645920"/>
          </a:xfrm>
          <a:prstGeom prst="rect">
            <a:avLst/>
          </a:prstGeom>
          <a:noFill/>
        </p:spPr>
        <p:txBody>
          <a:bodyPr wrap="square">
            <a:spAutoFit/>
          </a:bodyPr>
          <a:lstStyle/>
          <a:p>
            <a:pPr algn="ctr">
              <a:defRPr sz="1600" b="1">
                <a:solidFill>
                  <a:srgbClr val="FFFFFF"/>
                </a:solidFill>
              </a:defRPr>
            </a:pPr>
            <a:r>
              <a:t>Presented by: Yashodha K.</a:t>
            </a:r>
          </a:p>
          <a:p>
            <a:pPr algn="ctr">
              <a:defRPr sz="1300">
                <a:solidFill>
                  <a:srgbClr val="CBD5E1"/>
                </a:solidFill>
              </a:defRPr>
            </a:pPr>
            <a:r>
              <a:t>Department of Artificial Intelligence and Data Science</a:t>
            </a:r>
          </a:p>
          <a:p>
            <a:pPr algn="ctr">
              <a:defRPr sz="1300">
                <a:solidFill>
                  <a:srgbClr val="2563EB"/>
                </a:solidFill>
              </a:defRPr>
            </a:pPr>
            <a:r>
              <a:t>JJ College of Engineering and Technology (2026–2027)</a:t>
            </a:r>
          </a:p>
          <a:p>
            <a:pPr algn="ctr">
              <a:spcBef>
                <a:spcPts val="600"/>
              </a:spcBef>
              <a:defRPr sz="1200">
                <a:solidFill>
                  <a:srgbClr val="94A3B8"/>
                </a:solidFill>
              </a:defRPr>
            </a:pPr>
            <a:r>
              <a:t>Project: YashodhaMart — Full-Stack E-Commerce Web Application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